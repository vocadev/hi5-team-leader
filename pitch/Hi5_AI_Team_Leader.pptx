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
  </p:notesMasterIdLst>
  <p:sldIdLst>
    <p:sldId id="256" r:id="rId2"/>
    <p:sldId id="257" r:id="rId3"/>
    <p:sldId id="258" r:id="rId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4" d="100"/>
          <a:sy n="84" d="100"/>
        </p:scale>
        <p:origin x="614" y="31"/>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621026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FLUTURA (0:00–0:40) — GENERAL: "Good afternoon, we're Hi5. Think of any business that sells work done by a team in the field: events, cleaning, installation, maintenance, construction. Every time a client says yes, a coordination problem starts: people, vehicles and equipment in the right place at the right time, without clashing with jobs already booked. Today it lives in one person's head and on WhatsApp, and one quick fix often breaks another job."</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FLUTURA (0:40–1:15) — EXAMPLE: Magic Events (permission). ~4 hours coordinating in a difficult case · the other event an hour late · workers drop out 30 min before. "The real question isn't 'is someone free?'. It's 'can we deliver this job without breaking something else?' That's why we built an AI Team Leader. Devlete will show you."</a:t>
            </a:r>
          </a:p>
          <a:p>
            <a:r>
              <a:t>→ DEMO 1:15–3:30: DEVLETE narrates (pitch/SCRIPT.md), GENTI drives, ERZA + FLUTURA on phones. Devlete ends: "AI plans. Code checks. A human approves. Plan in 16 s, all confirmed 8 s after approval, ~3 cents per plan."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FLUTURA (3:30–5:00) — Works for any team away from a desk: small business gets a team leader it couldn't hire; bigger companies get an assistant for their PMs, reports for every role. Honest market: Connecteam, Planner, Asana, Jira already help teams; we bring the whole handoff in one flow, in their chat, in Albanian. Next: proposed four-Saturday pilot with Magic Events. CLOSE: "Your leader keeps the client. We turn the 'yes' into a plan that holds, and follow it through to the end. Thank you."</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3EA"/>
        </a:solidFill>
        <a:effectLst/>
      </p:bgPr>
    </p:bg>
    <p:spTree>
      <p:nvGrpSpPr>
        <p:cNvPr id="1" name=""/>
        <p:cNvGrpSpPr/>
        <p:nvPr/>
      </p:nvGrpSpPr>
      <p:grpSpPr>
        <a:xfrm>
          <a:off x="0" y="0"/>
          <a:ext cx="0" cy="0"/>
          <a:chOff x="0" y="0"/>
          <a:chExt cx="0" cy="0"/>
        </a:xfrm>
      </p:grpSpPr>
      <p:sp>
        <p:nvSpPr>
          <p:cNvPr id="2" name="Shape 0"/>
          <p:cNvSpPr/>
          <p:nvPr/>
        </p:nvSpPr>
        <p:spPr>
          <a:xfrm>
            <a:off x="219456" y="219456"/>
            <a:ext cx="11759184" cy="6419088"/>
          </a:xfrm>
          <a:prstGeom prst="rect">
            <a:avLst/>
          </a:prstGeom>
          <a:solidFill>
            <a:srgbClr val="F8F3EA">
              <a:alpha val="0"/>
            </a:srgbClr>
          </a:solidFill>
          <a:ln w="12700">
            <a:solidFill>
              <a:srgbClr val="E5DCCB"/>
            </a:solidFill>
            <a:prstDash val="solid"/>
          </a:ln>
        </p:spPr>
      </p:sp>
      <p:sp>
        <p:nvSpPr>
          <p:cNvPr id="3" name="Text 1"/>
          <p:cNvSpPr/>
          <p:nvPr/>
        </p:nvSpPr>
        <p:spPr>
          <a:xfrm>
            <a:off x="960120" y="694944"/>
            <a:ext cx="2743200" cy="228600"/>
          </a:xfrm>
          <a:prstGeom prst="rect">
            <a:avLst/>
          </a:prstGeom>
          <a:noFill/>
          <a:ln/>
        </p:spPr>
        <p:txBody>
          <a:bodyPr wrap="square" lIns="0" tIns="0" rIns="0" bIns="0" rtlCol="0" anchor="ctr"/>
          <a:lstStyle/>
          <a:p>
            <a:pPr marL="0" indent="0">
              <a:buNone/>
            </a:pPr>
            <a:r>
              <a:rPr lang="en-US" sz="900" b="1" dirty="0">
                <a:solidFill>
                  <a:srgbClr val="8D7A61"/>
                </a:solidFill>
                <a:latin typeface="Arial" pitchFamily="34" charset="0"/>
                <a:ea typeface="Arial" pitchFamily="34" charset="-122"/>
                <a:cs typeface="Arial" pitchFamily="34" charset="-120"/>
              </a:rPr>
              <a:t>FINAL PROJECT PRESENTATION</a:t>
            </a:r>
            <a:endParaRPr lang="en-US" sz="900" dirty="0"/>
          </a:p>
        </p:txBody>
      </p:sp>
      <p:sp>
        <p:nvSpPr>
          <p:cNvPr id="4" name="Text 2"/>
          <p:cNvSpPr/>
          <p:nvPr/>
        </p:nvSpPr>
        <p:spPr>
          <a:xfrm>
            <a:off x="10149840" y="512064"/>
            <a:ext cx="1280160" cy="228600"/>
          </a:xfrm>
          <a:prstGeom prst="rect">
            <a:avLst/>
          </a:prstGeom>
          <a:noFill/>
          <a:ln/>
        </p:spPr>
        <p:txBody>
          <a:bodyPr wrap="square" lIns="0" tIns="0" rIns="0" bIns="0" rtlCol="0" anchor="ctr"/>
          <a:lstStyle/>
          <a:p>
            <a:pPr marL="0" indent="0" algn="r">
              <a:buNone/>
            </a:pPr>
            <a:r>
              <a:rPr lang="en-US" sz="900" b="1" dirty="0">
                <a:solidFill>
                  <a:srgbClr val="8D7A61"/>
                </a:solidFill>
                <a:latin typeface="Arial" pitchFamily="34" charset="0"/>
                <a:ea typeface="Arial" pitchFamily="34" charset="-122"/>
                <a:cs typeface="Arial" pitchFamily="34" charset="-120"/>
              </a:rPr>
              <a:t>TEAM HI5</a:t>
            </a:r>
            <a:endParaRPr lang="en-US" sz="900" dirty="0"/>
          </a:p>
        </p:txBody>
      </p:sp>
      <p:sp>
        <p:nvSpPr>
          <p:cNvPr id="5" name="Text 3"/>
          <p:cNvSpPr/>
          <p:nvPr/>
        </p:nvSpPr>
        <p:spPr>
          <a:xfrm>
            <a:off x="11292840" y="6291072"/>
            <a:ext cx="320040" cy="182880"/>
          </a:xfrm>
          <a:prstGeom prst="rect">
            <a:avLst/>
          </a:prstGeom>
          <a:noFill/>
          <a:ln/>
        </p:spPr>
        <p:txBody>
          <a:bodyPr wrap="square" lIns="0" tIns="0" rIns="0" bIns="0" rtlCol="0" anchor="ctr"/>
          <a:lstStyle/>
          <a:p>
            <a:pPr marL="0" indent="0" algn="r">
              <a:buNone/>
            </a:pPr>
            <a:r>
              <a:rPr lang="en-US" sz="800" dirty="0">
                <a:solidFill>
                  <a:srgbClr val="8D7A61"/>
                </a:solidFill>
                <a:latin typeface="Arial" pitchFamily="34" charset="0"/>
                <a:ea typeface="Arial" pitchFamily="34" charset="-122"/>
                <a:cs typeface="Arial" pitchFamily="34" charset="-120"/>
              </a:rPr>
              <a:t>01</a:t>
            </a:r>
            <a:endParaRPr lang="en-US" sz="800" dirty="0"/>
          </a:p>
        </p:txBody>
      </p:sp>
      <p:sp>
        <p:nvSpPr>
          <p:cNvPr id="6" name="Text 4"/>
          <p:cNvSpPr/>
          <p:nvPr/>
        </p:nvSpPr>
        <p:spPr>
          <a:xfrm>
            <a:off x="960120" y="1755648"/>
            <a:ext cx="1920240" cy="685800"/>
          </a:xfrm>
          <a:prstGeom prst="rect">
            <a:avLst/>
          </a:prstGeom>
          <a:noFill/>
          <a:ln/>
        </p:spPr>
        <p:txBody>
          <a:bodyPr wrap="square" lIns="0" tIns="0" rIns="0" bIns="0" rtlCol="0" anchor="ctr">
            <a:normAutofit/>
          </a:bodyPr>
          <a:lstStyle/>
          <a:p>
            <a:pPr marL="0" indent="0">
              <a:buNone/>
            </a:pPr>
            <a:r>
              <a:rPr lang="en-US" sz="5000" dirty="0">
                <a:solidFill>
                  <a:srgbClr val="351F15"/>
                </a:solidFill>
                <a:latin typeface="Arial" pitchFamily="34" charset="0"/>
                <a:ea typeface="Arial" pitchFamily="34" charset="-122"/>
                <a:cs typeface="Arial" pitchFamily="34" charset="-120"/>
              </a:rPr>
              <a:t>Hi5</a:t>
            </a:r>
            <a:endParaRPr lang="en-US" sz="5000" dirty="0"/>
          </a:p>
        </p:txBody>
      </p:sp>
      <p:sp>
        <p:nvSpPr>
          <p:cNvPr id="7" name="Text 5"/>
          <p:cNvSpPr/>
          <p:nvPr/>
        </p:nvSpPr>
        <p:spPr>
          <a:xfrm>
            <a:off x="987552" y="2816352"/>
            <a:ext cx="5120640" cy="777240"/>
          </a:xfrm>
          <a:prstGeom prst="rect">
            <a:avLst/>
          </a:prstGeom>
          <a:noFill/>
          <a:ln/>
        </p:spPr>
        <p:txBody>
          <a:bodyPr wrap="square" lIns="0" tIns="0" rIns="0" bIns="0" rtlCol="0" anchor="ctr">
            <a:normAutofit/>
          </a:bodyPr>
          <a:lstStyle/>
          <a:p>
            <a:pPr marL="0" indent="0">
              <a:buNone/>
            </a:pPr>
            <a:r>
              <a:rPr lang="en-US" sz="2800" dirty="0">
                <a:solidFill>
                  <a:srgbClr val="351F15"/>
                </a:solidFill>
                <a:latin typeface="Arial" pitchFamily="34" charset="0"/>
                <a:ea typeface="Arial" pitchFamily="34" charset="-122"/>
                <a:cs typeface="Arial" pitchFamily="34" charset="-120"/>
              </a:rPr>
              <a:t>AI Team Leader</a:t>
            </a:r>
            <a:endParaRPr lang="en-US" sz="2800" dirty="0"/>
          </a:p>
          <a:p>
            <a:pPr marL="0" indent="0">
              <a:buNone/>
            </a:pPr>
            <a:r>
              <a:rPr lang="en-US" sz="2800" dirty="0">
                <a:solidFill>
                  <a:srgbClr val="351F15"/>
                </a:solidFill>
                <a:latin typeface="Arial" pitchFamily="34" charset="0"/>
                <a:ea typeface="Arial" pitchFamily="34" charset="-122"/>
                <a:cs typeface="Arial" pitchFamily="34" charset="-120"/>
              </a:rPr>
              <a:t>for Magic Events</a:t>
            </a:r>
            <a:endParaRPr lang="en-US" sz="2800" dirty="0"/>
          </a:p>
        </p:txBody>
      </p:sp>
      <p:sp>
        <p:nvSpPr>
          <p:cNvPr id="8" name="Shape 6"/>
          <p:cNvSpPr/>
          <p:nvPr/>
        </p:nvSpPr>
        <p:spPr>
          <a:xfrm>
            <a:off x="987552" y="4151376"/>
            <a:ext cx="4709160" cy="0"/>
          </a:xfrm>
          <a:prstGeom prst="line">
            <a:avLst/>
          </a:prstGeom>
          <a:noFill/>
          <a:ln w="13970">
            <a:solidFill>
              <a:srgbClr val="9D8762"/>
            </a:solidFill>
            <a:prstDash val="solid"/>
          </a:ln>
        </p:spPr>
      </p:sp>
      <p:sp>
        <p:nvSpPr>
          <p:cNvPr id="9" name="Text 7"/>
          <p:cNvSpPr/>
          <p:nvPr/>
        </p:nvSpPr>
        <p:spPr>
          <a:xfrm>
            <a:off x="987552" y="4526280"/>
            <a:ext cx="4754880" cy="310896"/>
          </a:xfrm>
          <a:prstGeom prst="rect">
            <a:avLst/>
          </a:prstGeom>
          <a:noFill/>
          <a:ln/>
        </p:spPr>
        <p:txBody>
          <a:bodyPr wrap="square" lIns="0" tIns="0" rIns="0" bIns="0" rtlCol="0" anchor="ctr">
            <a:normAutofit/>
          </a:bodyPr>
          <a:lstStyle/>
          <a:p>
            <a:pPr marL="0" indent="0">
              <a:buNone/>
            </a:pPr>
            <a:r>
              <a:rPr lang="en-US" sz="1550" dirty="0">
                <a:solidFill>
                  <a:srgbClr val="8D7A61"/>
                </a:solidFill>
                <a:latin typeface="Arial" pitchFamily="34" charset="0"/>
                <a:ea typeface="Arial" pitchFamily="34" charset="-122"/>
                <a:cs typeface="Arial" pitchFamily="34" charset="-120"/>
              </a:rPr>
              <a:t>Turning one client “yes” into a plan that holds.</a:t>
            </a:r>
            <a:endParaRPr lang="en-US" sz="1550" dirty="0"/>
          </a:p>
        </p:txBody>
      </p:sp>
      <p:sp>
        <p:nvSpPr>
          <p:cNvPr id="10" name="Shape 8"/>
          <p:cNvSpPr/>
          <p:nvPr/>
        </p:nvSpPr>
        <p:spPr>
          <a:xfrm>
            <a:off x="6903720" y="1938528"/>
            <a:ext cx="0" cy="2377440"/>
          </a:xfrm>
          <a:prstGeom prst="line">
            <a:avLst/>
          </a:prstGeom>
          <a:noFill/>
          <a:ln w="15240">
            <a:solidFill>
              <a:srgbClr val="E5DCCB"/>
            </a:solidFill>
            <a:prstDash val="solid"/>
          </a:ln>
        </p:spPr>
      </p:sp>
      <p:sp>
        <p:nvSpPr>
          <p:cNvPr id="11" name="Text 9"/>
          <p:cNvSpPr/>
          <p:nvPr/>
        </p:nvSpPr>
        <p:spPr>
          <a:xfrm>
            <a:off x="7424928" y="2011680"/>
            <a:ext cx="2011680" cy="201168"/>
          </a:xfrm>
          <a:prstGeom prst="rect">
            <a:avLst/>
          </a:prstGeom>
          <a:noFill/>
          <a:ln/>
        </p:spPr>
        <p:txBody>
          <a:bodyPr wrap="square" lIns="0" tIns="0" rIns="0" bIns="0" rtlCol="0" anchor="ctr">
            <a:normAutofit/>
          </a:bodyPr>
          <a:lstStyle/>
          <a:p>
            <a:pPr marL="0" indent="0">
              <a:buNone/>
            </a:pPr>
            <a:r>
              <a:rPr lang="en-US" sz="850" b="1" dirty="0">
                <a:solidFill>
                  <a:srgbClr val="8D7A61"/>
                </a:solidFill>
                <a:latin typeface="Arial" pitchFamily="34" charset="0"/>
                <a:ea typeface="Arial" pitchFamily="34" charset="-122"/>
                <a:cs typeface="Arial" pitchFamily="34" charset="-120"/>
              </a:rPr>
              <a:t>TEAM MEMBERS</a:t>
            </a:r>
            <a:endParaRPr lang="en-US" sz="850" dirty="0"/>
          </a:p>
        </p:txBody>
      </p:sp>
      <p:sp>
        <p:nvSpPr>
          <p:cNvPr id="12" name="Text 10"/>
          <p:cNvSpPr/>
          <p:nvPr/>
        </p:nvSpPr>
        <p:spPr>
          <a:xfrm>
            <a:off x="7424928" y="2450592"/>
            <a:ext cx="2560320" cy="219456"/>
          </a:xfrm>
          <a:prstGeom prst="rect">
            <a:avLst/>
          </a:prstGeom>
          <a:noFill/>
          <a:ln/>
        </p:spPr>
        <p:txBody>
          <a:bodyPr wrap="square" lIns="0" tIns="0" rIns="0" bIns="0" rtlCol="0" anchor="ctr">
            <a:normAutofit/>
          </a:bodyPr>
          <a:lstStyle/>
          <a:p>
            <a:pPr marL="0" indent="0">
              <a:buNone/>
            </a:pPr>
            <a:r>
              <a:rPr lang="en-US" sz="1450" dirty="0">
                <a:solidFill>
                  <a:srgbClr val="351F15"/>
                </a:solidFill>
                <a:latin typeface="Arial" pitchFamily="34" charset="0"/>
                <a:ea typeface="Arial" pitchFamily="34" charset="-122"/>
                <a:cs typeface="Arial" pitchFamily="34" charset="-120"/>
              </a:rPr>
              <a:t>Gentian Voca</a:t>
            </a:r>
            <a:endParaRPr lang="en-US" sz="1450" dirty="0"/>
          </a:p>
        </p:txBody>
      </p:sp>
      <p:sp>
        <p:nvSpPr>
          <p:cNvPr id="13" name="Text 11"/>
          <p:cNvSpPr/>
          <p:nvPr/>
        </p:nvSpPr>
        <p:spPr>
          <a:xfrm>
            <a:off x="7424928" y="2843784"/>
            <a:ext cx="2560320" cy="219456"/>
          </a:xfrm>
          <a:prstGeom prst="rect">
            <a:avLst/>
          </a:prstGeom>
          <a:noFill/>
          <a:ln/>
        </p:spPr>
        <p:txBody>
          <a:bodyPr wrap="square" lIns="0" tIns="0" rIns="0" bIns="0" rtlCol="0" anchor="ctr">
            <a:normAutofit/>
          </a:bodyPr>
          <a:lstStyle/>
          <a:p>
            <a:pPr marL="0" indent="0">
              <a:buNone/>
            </a:pPr>
            <a:r>
              <a:rPr lang="en-US" sz="1450" dirty="0">
                <a:solidFill>
                  <a:srgbClr val="351F15"/>
                </a:solidFill>
                <a:latin typeface="Arial" pitchFamily="34" charset="0"/>
                <a:ea typeface="Arial" pitchFamily="34" charset="-122"/>
                <a:cs typeface="Arial" pitchFamily="34" charset="-120"/>
              </a:rPr>
              <a:t>Flutura Hyseni</a:t>
            </a:r>
            <a:endParaRPr lang="en-US" sz="1450" dirty="0"/>
          </a:p>
        </p:txBody>
      </p:sp>
      <p:sp>
        <p:nvSpPr>
          <p:cNvPr id="14" name="Text 12"/>
          <p:cNvSpPr/>
          <p:nvPr/>
        </p:nvSpPr>
        <p:spPr>
          <a:xfrm>
            <a:off x="7424928" y="3236976"/>
            <a:ext cx="2560320" cy="219456"/>
          </a:xfrm>
          <a:prstGeom prst="rect">
            <a:avLst/>
          </a:prstGeom>
          <a:noFill/>
          <a:ln/>
        </p:spPr>
        <p:txBody>
          <a:bodyPr wrap="square" lIns="0" tIns="0" rIns="0" bIns="0" rtlCol="0" anchor="ctr">
            <a:normAutofit/>
          </a:bodyPr>
          <a:lstStyle/>
          <a:p>
            <a:pPr marL="0" indent="0">
              <a:buNone/>
            </a:pPr>
            <a:r>
              <a:rPr lang="en-US" sz="1450" dirty="0">
                <a:solidFill>
                  <a:srgbClr val="351F15"/>
                </a:solidFill>
                <a:latin typeface="Arial" pitchFamily="34" charset="0"/>
                <a:ea typeface="Arial" pitchFamily="34" charset="-122"/>
                <a:cs typeface="Arial" pitchFamily="34" charset="-120"/>
              </a:rPr>
              <a:t>Devlete Hasani</a:t>
            </a:r>
            <a:endParaRPr lang="en-US" sz="1450" dirty="0"/>
          </a:p>
        </p:txBody>
      </p:sp>
      <p:sp>
        <p:nvSpPr>
          <p:cNvPr id="15" name="Text 13"/>
          <p:cNvSpPr/>
          <p:nvPr/>
        </p:nvSpPr>
        <p:spPr>
          <a:xfrm>
            <a:off x="7424928" y="3630168"/>
            <a:ext cx="2560320" cy="219456"/>
          </a:xfrm>
          <a:prstGeom prst="rect">
            <a:avLst/>
          </a:prstGeom>
          <a:noFill/>
          <a:ln/>
        </p:spPr>
        <p:txBody>
          <a:bodyPr wrap="square" lIns="0" tIns="0" rIns="0" bIns="0" rtlCol="0" anchor="ctr">
            <a:normAutofit/>
          </a:bodyPr>
          <a:lstStyle/>
          <a:p>
            <a:pPr marL="0" indent="0">
              <a:buNone/>
            </a:pPr>
            <a:r>
              <a:rPr lang="en-US" sz="1450" dirty="0">
                <a:solidFill>
                  <a:srgbClr val="351F15"/>
                </a:solidFill>
                <a:latin typeface="Arial" pitchFamily="34" charset="0"/>
                <a:ea typeface="Arial" pitchFamily="34" charset="-122"/>
                <a:cs typeface="Arial" pitchFamily="34" charset="-120"/>
              </a:rPr>
              <a:t>Erza Osmani</a:t>
            </a:r>
            <a:endParaRPr lang="en-US" sz="1450" dirty="0"/>
          </a:p>
        </p:txBody>
      </p:sp>
      <p:sp>
        <p:nvSpPr>
          <p:cNvPr id="16" name="Text 14"/>
          <p:cNvSpPr/>
          <p:nvPr/>
        </p:nvSpPr>
        <p:spPr>
          <a:xfrm>
            <a:off x="7424928" y="4023360"/>
            <a:ext cx="2560320" cy="219456"/>
          </a:xfrm>
          <a:prstGeom prst="rect">
            <a:avLst/>
          </a:prstGeom>
          <a:noFill/>
          <a:ln/>
        </p:spPr>
        <p:txBody>
          <a:bodyPr wrap="square" lIns="0" tIns="0" rIns="0" bIns="0" rtlCol="0" anchor="ctr">
            <a:normAutofit/>
          </a:bodyPr>
          <a:lstStyle/>
          <a:p>
            <a:pPr marL="0" indent="0">
              <a:buNone/>
            </a:pPr>
            <a:r>
              <a:rPr lang="en-US" sz="1450" dirty="0">
                <a:solidFill>
                  <a:srgbClr val="351F15"/>
                </a:solidFill>
                <a:latin typeface="Arial" pitchFamily="34" charset="0"/>
                <a:ea typeface="Arial" pitchFamily="34" charset="-122"/>
                <a:cs typeface="Arial" pitchFamily="34" charset="-120"/>
              </a:rPr>
              <a:t>Tringa Hyseni</a:t>
            </a:r>
            <a:endParaRPr lang="en-US" sz="1450" dirty="0"/>
          </a:p>
        </p:txBody>
      </p:sp>
      <p:sp>
        <p:nvSpPr>
          <p:cNvPr id="17" name="Text 15"/>
          <p:cNvSpPr/>
          <p:nvPr/>
        </p:nvSpPr>
        <p:spPr>
          <a:xfrm>
            <a:off x="7424928" y="4663440"/>
            <a:ext cx="3474720" cy="320040"/>
          </a:xfrm>
          <a:prstGeom prst="rect">
            <a:avLst/>
          </a:prstGeom>
          <a:noFill/>
          <a:ln/>
        </p:spPr>
        <p:txBody>
          <a:bodyPr wrap="square" lIns="0" tIns="0" rIns="0" bIns="0" rtlCol="0" anchor="ctr">
            <a:normAutofit/>
          </a:bodyPr>
          <a:lstStyle/>
          <a:p>
            <a:pPr marL="0" indent="0">
              <a:buNone/>
            </a:pPr>
            <a:r>
              <a:rPr lang="en-US" sz="1150" dirty="0">
                <a:solidFill>
                  <a:srgbClr val="8D7A61"/>
                </a:solidFill>
                <a:latin typeface="Arial" pitchFamily="34" charset="0"/>
                <a:ea typeface="Arial" pitchFamily="34" charset="-122"/>
                <a:cs typeface="Arial" pitchFamily="34" charset="-120"/>
              </a:rPr>
              <a:t>Small business demo today. Corporate PM assistant next.</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3EA"/>
        </a:solidFill>
        <a:effectLst/>
      </p:bgPr>
    </p:bg>
    <p:spTree>
      <p:nvGrpSpPr>
        <p:cNvPr id="1" name=""/>
        <p:cNvGrpSpPr/>
        <p:nvPr/>
      </p:nvGrpSpPr>
      <p:grpSpPr>
        <a:xfrm>
          <a:off x="0" y="0"/>
          <a:ext cx="0" cy="0"/>
          <a:chOff x="0" y="0"/>
          <a:chExt cx="0" cy="0"/>
        </a:xfrm>
      </p:grpSpPr>
      <p:sp>
        <p:nvSpPr>
          <p:cNvPr id="2" name="Shape 0"/>
          <p:cNvSpPr/>
          <p:nvPr/>
        </p:nvSpPr>
        <p:spPr>
          <a:xfrm>
            <a:off x="219456" y="219456"/>
            <a:ext cx="11759184" cy="6419088"/>
          </a:xfrm>
          <a:prstGeom prst="rect">
            <a:avLst/>
          </a:prstGeom>
          <a:solidFill>
            <a:srgbClr val="F8F3EA">
              <a:alpha val="0"/>
            </a:srgbClr>
          </a:solidFill>
          <a:ln w="12700">
            <a:solidFill>
              <a:srgbClr val="E5DCCB"/>
            </a:solidFill>
            <a:prstDash val="solid"/>
          </a:ln>
        </p:spPr>
        <p:txBody>
          <a:bodyPr/>
          <a:p/>
        </p:txBody>
      </p:sp>
      <p:sp>
        <p:nvSpPr>
          <p:cNvPr id="3" name="Text 1"/>
          <p:cNvSpPr/>
          <p:nvPr/>
        </p:nvSpPr>
        <p:spPr>
          <a:xfrm>
            <a:off x="960120" y="694944"/>
            <a:ext cx="2743200" cy="228600"/>
          </a:xfrm>
          <a:prstGeom prst="rect">
            <a:avLst/>
          </a:prstGeom>
          <a:noFill/>
          <a:ln/>
        </p:spPr>
        <p:txBody>
          <a:bodyPr wrap="square" lIns="0" tIns="0" rIns="0" bIns="0" rtlCol="0" anchor="ctr"/>
          <a:lstStyle/>
          <a:p>
            <a:pPr marL="0" indent="0">
              <a:buNone/>
            </a:pPr>
            <a:r>
              <a:rPr lang="en-US" sz="900" b="1" dirty="0">
                <a:solidFill>
                  <a:srgbClr val="8D7A61"/>
                </a:solidFill>
                <a:latin typeface="Arial" pitchFamily="34" charset="0"/>
                <a:ea typeface="Arial" pitchFamily="34" charset="-122"/>
                <a:cs typeface="Arial" pitchFamily="34" charset="-120"/>
              </a:rPr>
              <a:t>FINAL PROJECT PRESENTATION</a:t>
            </a:r>
            <a:endParaRPr lang="en-US" sz="900" dirty="0"/>
          </a:p>
        </p:txBody>
      </p:sp>
      <p:sp>
        <p:nvSpPr>
          <p:cNvPr id="4" name="Text 2"/>
          <p:cNvSpPr/>
          <p:nvPr/>
        </p:nvSpPr>
        <p:spPr>
          <a:xfrm>
            <a:off x="10149840" y="512064"/>
            <a:ext cx="1280160" cy="228600"/>
          </a:xfrm>
          <a:prstGeom prst="rect">
            <a:avLst/>
          </a:prstGeom>
          <a:noFill/>
          <a:ln/>
        </p:spPr>
        <p:txBody>
          <a:bodyPr wrap="square" lIns="0" tIns="0" rIns="0" bIns="0" rtlCol="0" anchor="ctr"/>
          <a:lstStyle/>
          <a:p>
            <a:pPr marL="0" indent="0" algn="r">
              <a:buNone/>
            </a:pPr>
            <a:r>
              <a:rPr lang="en-US" sz="900" b="1" dirty="0">
                <a:solidFill>
                  <a:srgbClr val="8D7A61"/>
                </a:solidFill>
                <a:latin typeface="Arial" pitchFamily="34" charset="0"/>
                <a:ea typeface="Arial" pitchFamily="34" charset="-122"/>
                <a:cs typeface="Arial" pitchFamily="34" charset="-120"/>
              </a:rPr>
              <a:t>TEAM HI5</a:t>
            </a:r>
            <a:endParaRPr lang="en-US" sz="900" dirty="0"/>
          </a:p>
        </p:txBody>
      </p:sp>
      <p:sp>
        <p:nvSpPr>
          <p:cNvPr id="5" name="Text 3"/>
          <p:cNvSpPr/>
          <p:nvPr/>
        </p:nvSpPr>
        <p:spPr>
          <a:xfrm>
            <a:off x="11292840" y="6291072"/>
            <a:ext cx="320040" cy="182880"/>
          </a:xfrm>
          <a:prstGeom prst="rect">
            <a:avLst/>
          </a:prstGeom>
          <a:noFill/>
          <a:ln/>
        </p:spPr>
        <p:txBody>
          <a:bodyPr wrap="square" lIns="0" tIns="0" rIns="0" bIns="0" rtlCol="0" anchor="ctr"/>
          <a:lstStyle/>
          <a:p>
            <a:pPr marL="0" indent="0" algn="r">
              <a:buNone/>
            </a:pPr>
            <a:r>
              <a:rPr lang="en-US" sz="800" dirty="0">
                <a:solidFill>
                  <a:srgbClr val="8D7A61"/>
                </a:solidFill>
                <a:latin typeface="Arial" pitchFamily="34" charset="0"/>
                <a:ea typeface="Arial" pitchFamily="34" charset="-122"/>
                <a:cs typeface="Arial" pitchFamily="34" charset="-120"/>
              </a:rPr>
              <a:t>02</a:t>
            </a:r>
            <a:endParaRPr lang="en-US" sz="800" dirty="0"/>
          </a:p>
        </p:txBody>
      </p:sp>
      <p:sp>
        <p:nvSpPr>
          <p:cNvPr id="6" name="Text 4"/>
          <p:cNvSpPr/>
          <p:nvPr/>
        </p:nvSpPr>
        <p:spPr>
          <a:xfrm>
            <a:off x="960120" y="1124712"/>
            <a:ext cx="5669280" cy="914400"/>
          </a:xfrm>
          <a:prstGeom prst="rect">
            <a:avLst/>
          </a:prstGeom>
          <a:noFill/>
          <a:ln/>
        </p:spPr>
        <p:txBody>
          <a:bodyPr wrap="square" lIns="0" tIns="0" rIns="0" bIns="0" rtlCol="0" anchor="ctr">
            <a:normAutofit/>
          </a:bodyPr>
          <a:lstStyle/>
          <a:p>
            <a:pPr marL="0" indent="0">
              <a:buNone/>
            </a:pPr>
            <a:r>
              <a:rPr lang="en-US" sz="2800" dirty="0">
                <a:solidFill>
                  <a:srgbClr val="351F15"/>
                </a:solidFill>
                <a:latin typeface="Arial" pitchFamily="34" charset="0"/>
                <a:ea typeface="Arial" pitchFamily="34" charset="-122"/>
                <a:cs typeface="Arial" pitchFamily="34" charset="-120"/>
              </a:rPr>
              <a:t>One client “yes” =</a:t>
            </a:r>
            <a:endParaRPr lang="en-US" sz="2800" dirty="0"/>
          </a:p>
          <a:p>
            <a:pPr marL="0" indent="0">
              <a:buNone/>
            </a:pPr>
            <a:r>
              <a:rPr lang="en-US" sz="2800" dirty="0">
                <a:solidFill>
                  <a:srgbClr val="351F15"/>
                </a:solidFill>
                <a:latin typeface="Arial" pitchFamily="34" charset="0"/>
                <a:ea typeface="Arial" pitchFamily="34" charset="-122"/>
                <a:cs typeface="Arial" pitchFamily="34" charset="-120"/>
              </a:rPr>
              <a:t>10 things that need to go right</a:t>
            </a:r>
            <a:endParaRPr lang="en-US" sz="2800" dirty="0"/>
          </a:p>
        </p:txBody>
      </p:sp>
      <p:sp>
        <p:nvSpPr>
          <p:cNvPr id="7" name="Text 5"/>
          <p:cNvSpPr/>
          <p:nvPr/>
        </p:nvSpPr>
        <p:spPr>
          <a:xfrm>
            <a:off x="987552" y="2395728"/>
            <a:ext cx="5303520" cy="320040"/>
          </a:xfrm>
          <a:prstGeom prst="rect">
            <a:avLst/>
          </a:prstGeom>
          <a:noFill/>
          <a:ln/>
        </p:spPr>
        <p:txBody>
          <a:bodyPr wrap="square" lIns="0" tIns="0" rIns="0" bIns="0" rtlCol="0" anchor="ctr">
            <a:normAutofit/>
          </a:bodyPr>
          <a:lstStyle/>
          <a:p>
            <a:pPr marL="0" indent="0">
              <a:buNone/>
            </a:pPr>
            <a:r>
              <a:rPr lang="en-US" sz="1250" dirty="0">
                <a:solidFill>
                  <a:srgbClr val="8D7A61"/>
                </a:solidFill>
                <a:latin typeface="Arial" pitchFamily="34" charset="0"/>
                <a:ea typeface="Arial" pitchFamily="34" charset="-122"/>
                <a:cs typeface="Arial" pitchFamily="34" charset="-120"/>
              </a:rPr>
              <a:t>Magic Events today: WhatsApp, Viber, phone calls, memory, and fast decisions.</a:t>
            </a:r>
            <a:endParaRPr lang="en-US" sz="1250" dirty="0"/>
          </a:p>
        </p:txBody>
      </p:sp>
      <p:sp>
        <p:nvSpPr>
          <p:cNvPr id="8" name="Shape 6"/>
          <p:cNvSpPr/>
          <p:nvPr/>
        </p:nvSpPr>
        <p:spPr>
          <a:xfrm>
            <a:off x="987552" y="2770632"/>
            <a:ext cx="4526280" cy="0"/>
          </a:xfrm>
          <a:prstGeom prst="line">
            <a:avLst/>
          </a:prstGeom>
          <a:noFill/>
          <a:ln w="13970">
            <a:solidFill>
              <a:srgbClr val="9D8762"/>
            </a:solidFill>
            <a:prstDash val="solid"/>
          </a:ln>
        </p:spPr>
        <p:txBody>
          <a:bodyPr/>
          <a:p/>
        </p:txBody>
      </p:sp>
      <p:sp>
        <p:nvSpPr>
          <p:cNvPr id="9" name="Text 7"/>
          <p:cNvSpPr/>
          <p:nvPr/>
        </p:nvSpPr>
        <p:spPr>
          <a:xfrm>
            <a:off x="987552" y="3044952"/>
            <a:ext cx="2377440" cy="201168"/>
          </a:xfrm>
          <a:prstGeom prst="rect">
            <a:avLst/>
          </a:prstGeom>
          <a:noFill/>
          <a:ln/>
        </p:spPr>
        <p:txBody>
          <a:bodyPr wrap="square" lIns="0" tIns="0" rIns="0" bIns="0" rtlCol="0" anchor="ctr">
            <a:normAutofit/>
          </a:bodyPr>
          <a:lstStyle/>
          <a:p>
            <a:pPr marL="0" indent="0">
              <a:buNone/>
            </a:pPr>
            <a:r>
              <a:rPr lang="en-US" sz="850" b="1" dirty="0">
                <a:solidFill>
                  <a:srgbClr val="8D7A61"/>
                </a:solidFill>
                <a:latin typeface="Arial" pitchFamily="34" charset="0"/>
                <a:ea typeface="Arial" pitchFamily="34" charset="-122"/>
                <a:cs typeface="Arial" pitchFamily="34" charset="-120"/>
              </a:rPr>
              <a:t>WHAT MUST BE COORDINATED</a:t>
            </a:r>
            <a:endParaRPr lang="en-US" sz="850" dirty="0"/>
          </a:p>
        </p:txBody>
      </p:sp>
      <p:sp>
        <p:nvSpPr>
          <p:cNvPr id="10" name="Shape 8"/>
          <p:cNvSpPr/>
          <p:nvPr/>
        </p:nvSpPr>
        <p:spPr>
          <a:xfrm>
            <a:off x="987552" y="3401568"/>
            <a:ext cx="1051560" cy="329184"/>
          </a:xfrm>
          <a:prstGeom prst="roundRect">
            <a:avLst>
              <a:gd name="adj" fmla="val 33333"/>
            </a:avLst>
          </a:prstGeom>
          <a:solidFill>
            <a:srgbClr val="EADFCC"/>
          </a:solidFill>
          <a:ln w="12700">
            <a:solidFill>
              <a:srgbClr val="EADFCC">
                <a:alpha val="0"/>
              </a:srgbClr>
            </a:solidFill>
            <a:prstDash val="solid"/>
          </a:ln>
        </p:spPr>
        <p:txBody>
          <a:bodyPr/>
          <a:p/>
        </p:txBody>
      </p:sp>
      <p:sp>
        <p:nvSpPr>
          <p:cNvPr id="11" name="Text 9"/>
          <p:cNvSpPr/>
          <p:nvPr/>
        </p:nvSpPr>
        <p:spPr>
          <a:xfrm>
            <a:off x="987552" y="3483864"/>
            <a:ext cx="1051560" cy="137160"/>
          </a:xfrm>
          <a:prstGeom prst="rect">
            <a:avLst/>
          </a:prstGeom>
          <a:noFill/>
          <a:ln/>
        </p:spPr>
        <p:txBody>
          <a:bodyPr wrap="square" lIns="0" tIns="0" rIns="0" bIns="0" rtlCol="0" anchor="ctr">
            <a:normAutofit/>
          </a:bodyPr>
          <a:lstStyle/>
          <a:p>
            <a:pPr marL="0" indent="0" algn="ctr">
              <a:buNone/>
            </a:pPr>
            <a:r>
              <a:rPr lang="en-US" sz="820" b="1" dirty="0">
                <a:solidFill>
                  <a:srgbClr val="351F15"/>
                </a:solidFill>
                <a:latin typeface="Arial" pitchFamily="34" charset="0"/>
                <a:ea typeface="Arial" pitchFamily="34" charset="-122"/>
                <a:cs typeface="Arial" pitchFamily="34" charset="-120"/>
              </a:rPr>
              <a:t>People</a:t>
            </a:r>
            <a:endParaRPr lang="en-US" sz="820" dirty="0"/>
          </a:p>
        </p:txBody>
      </p:sp>
      <p:sp>
        <p:nvSpPr>
          <p:cNvPr id="12" name="Shape 10"/>
          <p:cNvSpPr/>
          <p:nvPr/>
        </p:nvSpPr>
        <p:spPr>
          <a:xfrm>
            <a:off x="2231136" y="3401568"/>
            <a:ext cx="1051560" cy="329184"/>
          </a:xfrm>
          <a:prstGeom prst="roundRect">
            <a:avLst>
              <a:gd name="adj" fmla="val 33333"/>
            </a:avLst>
          </a:prstGeom>
          <a:solidFill>
            <a:srgbClr val="EADFCC"/>
          </a:solidFill>
          <a:ln w="12700">
            <a:solidFill>
              <a:srgbClr val="EADFCC">
                <a:alpha val="0"/>
              </a:srgbClr>
            </a:solidFill>
            <a:prstDash val="solid"/>
          </a:ln>
        </p:spPr>
        <p:txBody>
          <a:bodyPr/>
          <a:p/>
        </p:txBody>
      </p:sp>
      <p:sp>
        <p:nvSpPr>
          <p:cNvPr id="13" name="Text 11"/>
          <p:cNvSpPr/>
          <p:nvPr/>
        </p:nvSpPr>
        <p:spPr>
          <a:xfrm>
            <a:off x="2231136" y="3483864"/>
            <a:ext cx="1051560" cy="137160"/>
          </a:xfrm>
          <a:prstGeom prst="rect">
            <a:avLst/>
          </a:prstGeom>
          <a:noFill/>
          <a:ln/>
        </p:spPr>
        <p:txBody>
          <a:bodyPr wrap="square" lIns="0" tIns="0" rIns="0" bIns="0" rtlCol="0" anchor="ctr">
            <a:normAutofit/>
          </a:bodyPr>
          <a:lstStyle/>
          <a:p>
            <a:pPr marL="0" indent="0" algn="ctr">
              <a:buNone/>
            </a:pPr>
            <a:r>
              <a:rPr lang="en-US" sz="820" b="1" dirty="0">
                <a:solidFill>
                  <a:srgbClr val="351F15"/>
                </a:solidFill>
                <a:latin typeface="Arial" pitchFamily="34" charset="0"/>
                <a:ea typeface="Arial" pitchFamily="34" charset="-122"/>
                <a:cs typeface="Arial" pitchFamily="34" charset="-120"/>
              </a:rPr>
              <a:t>Skills</a:t>
            </a:r>
            <a:endParaRPr lang="en-US" sz="820" dirty="0"/>
          </a:p>
        </p:txBody>
      </p:sp>
      <p:sp>
        <p:nvSpPr>
          <p:cNvPr id="14" name="Shape 12"/>
          <p:cNvSpPr/>
          <p:nvPr/>
        </p:nvSpPr>
        <p:spPr>
          <a:xfrm>
            <a:off x="3474720" y="3401568"/>
            <a:ext cx="1051560" cy="329184"/>
          </a:xfrm>
          <a:prstGeom prst="roundRect">
            <a:avLst>
              <a:gd name="adj" fmla="val 33333"/>
            </a:avLst>
          </a:prstGeom>
          <a:solidFill>
            <a:srgbClr val="EADFCC"/>
          </a:solidFill>
          <a:ln w="12700">
            <a:solidFill>
              <a:srgbClr val="EADFCC">
                <a:alpha val="0"/>
              </a:srgbClr>
            </a:solidFill>
            <a:prstDash val="solid"/>
          </a:ln>
        </p:spPr>
        <p:txBody>
          <a:bodyPr/>
          <a:p/>
        </p:txBody>
      </p:sp>
      <p:sp>
        <p:nvSpPr>
          <p:cNvPr id="15" name="Text 13"/>
          <p:cNvSpPr/>
          <p:nvPr/>
        </p:nvSpPr>
        <p:spPr>
          <a:xfrm>
            <a:off x="3474720" y="3483864"/>
            <a:ext cx="1051560" cy="137160"/>
          </a:xfrm>
          <a:prstGeom prst="rect">
            <a:avLst/>
          </a:prstGeom>
          <a:noFill/>
          <a:ln/>
        </p:spPr>
        <p:txBody>
          <a:bodyPr wrap="square" lIns="0" tIns="0" rIns="0" bIns="0" rtlCol="0" anchor="ctr">
            <a:normAutofit/>
          </a:bodyPr>
          <a:lstStyle/>
          <a:p>
            <a:pPr marL="0" indent="0" algn="ctr">
              <a:buNone/>
            </a:pPr>
            <a:r>
              <a:rPr lang="en-US" sz="820" b="1" dirty="0">
                <a:solidFill>
                  <a:srgbClr val="351F15"/>
                </a:solidFill>
                <a:latin typeface="Arial" pitchFamily="34" charset="0"/>
                <a:ea typeface="Arial" pitchFamily="34" charset="-122"/>
                <a:cs typeface="Arial" pitchFamily="34" charset="-120"/>
              </a:rPr>
              <a:t>Van</a:t>
            </a:r>
            <a:endParaRPr lang="en-US" sz="820" dirty="0"/>
          </a:p>
        </p:txBody>
      </p:sp>
      <p:sp>
        <p:nvSpPr>
          <p:cNvPr id="16" name="Shape 14"/>
          <p:cNvSpPr/>
          <p:nvPr/>
        </p:nvSpPr>
        <p:spPr>
          <a:xfrm>
            <a:off x="987552" y="3840480"/>
            <a:ext cx="1051560" cy="329184"/>
          </a:xfrm>
          <a:prstGeom prst="roundRect">
            <a:avLst>
              <a:gd name="adj" fmla="val 33333"/>
            </a:avLst>
          </a:prstGeom>
          <a:solidFill>
            <a:srgbClr val="EADFCC"/>
          </a:solidFill>
          <a:ln w="12700">
            <a:solidFill>
              <a:srgbClr val="EADFCC">
                <a:alpha val="0"/>
              </a:srgbClr>
            </a:solidFill>
            <a:prstDash val="solid"/>
          </a:ln>
        </p:spPr>
        <p:txBody>
          <a:bodyPr/>
          <a:p/>
        </p:txBody>
      </p:sp>
      <p:sp>
        <p:nvSpPr>
          <p:cNvPr id="17" name="Text 15"/>
          <p:cNvSpPr/>
          <p:nvPr/>
        </p:nvSpPr>
        <p:spPr>
          <a:xfrm>
            <a:off x="987552" y="3922776"/>
            <a:ext cx="1051560" cy="137160"/>
          </a:xfrm>
          <a:prstGeom prst="rect">
            <a:avLst/>
          </a:prstGeom>
          <a:noFill/>
          <a:ln/>
        </p:spPr>
        <p:txBody>
          <a:bodyPr wrap="square" lIns="0" tIns="0" rIns="0" bIns="0" rtlCol="0" anchor="ctr">
            <a:normAutofit/>
          </a:bodyPr>
          <a:lstStyle/>
          <a:p>
            <a:pPr marL="0" indent="0" algn="ctr">
              <a:buNone/>
            </a:pPr>
            <a:r>
              <a:rPr lang="en-US" sz="820" b="1" dirty="0">
                <a:solidFill>
                  <a:srgbClr val="351F15"/>
                </a:solidFill>
                <a:latin typeface="Arial" pitchFamily="34" charset="0"/>
                <a:ea typeface="Arial" pitchFamily="34" charset="-122"/>
                <a:cs typeface="Arial" pitchFamily="34" charset="-120"/>
              </a:rPr>
              <a:t>Equipment</a:t>
            </a:r>
            <a:endParaRPr lang="en-US" sz="820" dirty="0"/>
          </a:p>
        </p:txBody>
      </p:sp>
      <p:sp>
        <p:nvSpPr>
          <p:cNvPr id="18" name="Shape 16"/>
          <p:cNvSpPr/>
          <p:nvPr/>
        </p:nvSpPr>
        <p:spPr>
          <a:xfrm>
            <a:off x="2231136" y="3840480"/>
            <a:ext cx="1051560" cy="329184"/>
          </a:xfrm>
          <a:prstGeom prst="roundRect">
            <a:avLst>
              <a:gd name="adj" fmla="val 33333"/>
            </a:avLst>
          </a:prstGeom>
          <a:solidFill>
            <a:srgbClr val="EADFCC"/>
          </a:solidFill>
          <a:ln w="12700">
            <a:solidFill>
              <a:srgbClr val="EADFCC">
                <a:alpha val="0"/>
              </a:srgbClr>
            </a:solidFill>
            <a:prstDash val="solid"/>
          </a:ln>
        </p:spPr>
        <p:txBody>
          <a:bodyPr/>
          <a:p/>
        </p:txBody>
      </p:sp>
      <p:sp>
        <p:nvSpPr>
          <p:cNvPr id="19" name="Text 17"/>
          <p:cNvSpPr/>
          <p:nvPr/>
        </p:nvSpPr>
        <p:spPr>
          <a:xfrm>
            <a:off x="2231136" y="3922776"/>
            <a:ext cx="1051560" cy="137160"/>
          </a:xfrm>
          <a:prstGeom prst="rect">
            <a:avLst/>
          </a:prstGeom>
          <a:noFill/>
          <a:ln/>
        </p:spPr>
        <p:txBody>
          <a:bodyPr wrap="square" lIns="0" tIns="0" rIns="0" bIns="0" rtlCol="0" anchor="ctr">
            <a:normAutofit/>
          </a:bodyPr>
          <a:lstStyle/>
          <a:p>
            <a:pPr marL="0" indent="0" algn="ctr">
              <a:buNone/>
            </a:pPr>
            <a:r>
              <a:rPr lang="en-US" sz="820" b="1" dirty="0">
                <a:solidFill>
                  <a:srgbClr val="351F15"/>
                </a:solidFill>
                <a:latin typeface="Arial" pitchFamily="34" charset="0"/>
                <a:ea typeface="Arial" pitchFamily="34" charset="-122"/>
                <a:cs typeface="Arial" pitchFamily="34" charset="-120"/>
              </a:rPr>
              <a:t>Time</a:t>
            </a:r>
            <a:endParaRPr lang="en-US" sz="820" dirty="0"/>
          </a:p>
        </p:txBody>
      </p:sp>
      <p:sp>
        <p:nvSpPr>
          <p:cNvPr id="20" name="Shape 18"/>
          <p:cNvSpPr/>
          <p:nvPr/>
        </p:nvSpPr>
        <p:spPr>
          <a:xfrm>
            <a:off x="3474720" y="3840480"/>
            <a:ext cx="1051560" cy="329184"/>
          </a:xfrm>
          <a:prstGeom prst="roundRect">
            <a:avLst>
              <a:gd name="adj" fmla="val 33333"/>
            </a:avLst>
          </a:prstGeom>
          <a:solidFill>
            <a:srgbClr val="EADFCC"/>
          </a:solidFill>
          <a:ln w="12700">
            <a:solidFill>
              <a:srgbClr val="EADFCC">
                <a:alpha val="0"/>
              </a:srgbClr>
            </a:solidFill>
            <a:prstDash val="solid"/>
          </a:ln>
        </p:spPr>
        <p:txBody>
          <a:bodyPr/>
          <a:p/>
        </p:txBody>
      </p:sp>
      <p:sp>
        <p:nvSpPr>
          <p:cNvPr id="21" name="Text 19"/>
          <p:cNvSpPr/>
          <p:nvPr/>
        </p:nvSpPr>
        <p:spPr>
          <a:xfrm>
            <a:off x="3474720" y="3922776"/>
            <a:ext cx="1051560" cy="137160"/>
          </a:xfrm>
          <a:prstGeom prst="rect">
            <a:avLst/>
          </a:prstGeom>
          <a:noFill/>
          <a:ln/>
        </p:spPr>
        <p:txBody>
          <a:bodyPr wrap="square" lIns="0" tIns="0" rIns="0" bIns="0" rtlCol="0" anchor="ctr">
            <a:normAutofit/>
          </a:bodyPr>
          <a:lstStyle/>
          <a:p>
            <a:pPr marL="0" indent="0" algn="ctr">
              <a:buNone/>
            </a:pPr>
            <a:r>
              <a:rPr lang="en-US" sz="820" b="1" dirty="0">
                <a:solidFill>
                  <a:srgbClr val="351F15"/>
                </a:solidFill>
                <a:latin typeface="Arial" pitchFamily="34" charset="0"/>
                <a:ea typeface="Arial" pitchFamily="34" charset="-122"/>
                <a:cs typeface="Arial" pitchFamily="34" charset="-120"/>
              </a:rPr>
              <a:t>Location</a:t>
            </a:r>
            <a:endParaRPr lang="en-US" sz="820" dirty="0"/>
          </a:p>
        </p:txBody>
      </p:sp>
      <p:sp>
        <p:nvSpPr>
          <p:cNvPr id="22" name="Text 20"/>
          <p:cNvSpPr/>
          <p:nvPr/>
        </p:nvSpPr>
        <p:spPr>
          <a:xfrm>
            <a:off x="6629400" y="1234440"/>
            <a:ext cx="2286000" cy="201168"/>
          </a:xfrm>
          <a:prstGeom prst="rect">
            <a:avLst/>
          </a:prstGeom>
          <a:noFill/>
          <a:ln/>
        </p:spPr>
        <p:txBody>
          <a:bodyPr wrap="square" lIns="0" tIns="0" rIns="0" bIns="0" rtlCol="0" anchor="ctr">
            <a:normAutofit/>
          </a:bodyPr>
          <a:lstStyle/>
          <a:p>
            <a:pPr marL="0" indent="0">
              <a:buNone/>
            </a:pPr>
            <a:r>
              <a:rPr lang="en-US" sz="850" b="1" dirty="0">
                <a:solidFill>
                  <a:srgbClr val="8D7A61"/>
                </a:solidFill>
                <a:latin typeface="Arial" pitchFamily="34" charset="0"/>
                <a:ea typeface="Arial" pitchFamily="34" charset="-122"/>
                <a:cs typeface="Arial" pitchFamily="34" charset="-120"/>
              </a:rPr>
              <a:t>REAL PROBLEM PROOF</a:t>
            </a:r>
            <a:endParaRPr lang="en-US" sz="850" dirty="0"/>
          </a:p>
        </p:txBody>
      </p:sp>
      <p:sp>
        <p:nvSpPr>
          <p:cNvPr id="23" name="Shape 21"/>
          <p:cNvSpPr/>
          <p:nvPr/>
        </p:nvSpPr>
        <p:spPr>
          <a:xfrm>
            <a:off x="6629400" y="1627632"/>
            <a:ext cx="3977640" cy="841248"/>
          </a:xfrm>
          <a:prstGeom prst="roundRect">
            <a:avLst>
              <a:gd name="adj" fmla="val 9783"/>
            </a:avLst>
          </a:prstGeom>
          <a:solidFill>
            <a:srgbClr val="FFFDF8"/>
          </a:solidFill>
          <a:ln w="10160">
            <a:solidFill>
              <a:srgbClr val="E5DCCB"/>
            </a:solidFill>
            <a:prstDash val="solid"/>
          </a:ln>
        </p:spPr>
        <p:txBody>
          <a:bodyPr/>
          <a:p/>
        </p:txBody>
      </p:sp>
      <p:sp>
        <p:nvSpPr>
          <p:cNvPr id="24" name="Text 22"/>
          <p:cNvSpPr/>
          <p:nvPr/>
        </p:nvSpPr>
        <p:spPr>
          <a:xfrm>
            <a:off x="6793992" y="1764792"/>
            <a:ext cx="3648456" cy="228600"/>
          </a:xfrm>
          <a:prstGeom prst="rect">
            <a:avLst/>
          </a:prstGeom>
          <a:noFill/>
          <a:ln/>
        </p:spPr>
        <p:txBody>
          <a:bodyPr wrap="square" lIns="0" tIns="0" rIns="0" bIns="0" rtlCol="0" anchor="ctr">
            <a:normAutofit/>
          </a:bodyPr>
          <a:lstStyle/>
          <a:p>
            <a:pPr marL="0" indent="0">
              <a:buNone/>
            </a:pPr>
            <a:r>
              <a:rPr lang="en-US" sz="1000" b="1" dirty="0">
                <a:solidFill>
                  <a:srgbClr val="8D7A61"/>
                </a:solidFill>
                <a:latin typeface="Arial" pitchFamily="34" charset="0"/>
                <a:ea typeface="Arial" pitchFamily="34" charset="-122"/>
                <a:cs typeface="Arial" pitchFamily="34" charset="-120"/>
              </a:rPr>
              <a:t>~4 HOURS</a:t>
            </a:r>
            <a:endParaRPr lang="en-US" sz="1000" dirty="0"/>
          </a:p>
        </p:txBody>
      </p:sp>
      <p:sp>
        <p:nvSpPr>
          <p:cNvPr id="25" name="Text 23"/>
          <p:cNvSpPr/>
          <p:nvPr/>
        </p:nvSpPr>
        <p:spPr>
          <a:xfrm>
            <a:off x="6793992" y="2130552"/>
            <a:ext cx="3648456" cy="219456"/>
          </a:xfrm>
          <a:prstGeom prst="rect">
            <a:avLst/>
          </a:prstGeom>
          <a:noFill/>
          <a:ln/>
        </p:spPr>
        <p:txBody>
          <a:bodyPr wrap="square" lIns="127" tIns="127" rIns="127" bIns="127" rtlCol="0" anchor="ctr">
            <a:normAutofit/>
          </a:bodyPr>
          <a:lstStyle/>
          <a:p>
            <a:pPr marL="0" indent="0">
              <a:buNone/>
            </a:pPr>
            <a:r>
              <a:rPr lang="en-US" sz="1350" b="1" dirty="0">
                <a:solidFill>
                  <a:srgbClr val="351F15"/>
                </a:solidFill>
                <a:latin typeface="Arial" pitchFamily="34" charset="0"/>
                <a:ea typeface="Arial" pitchFamily="34" charset="-122"/>
                <a:cs typeface="Arial" pitchFamily="34" charset="-120"/>
              </a:rPr>
              <a:t>manual coordination in one difficult case</a:t>
            </a:r>
            <a:endParaRPr lang="en-US" sz="1350" dirty="0"/>
          </a:p>
        </p:txBody>
      </p:sp>
      <p:sp>
        <p:nvSpPr>
          <p:cNvPr id="26" name="Shape 24"/>
          <p:cNvSpPr/>
          <p:nvPr/>
        </p:nvSpPr>
        <p:spPr>
          <a:xfrm>
            <a:off x="6629400" y="2697480"/>
            <a:ext cx="3977640" cy="841248"/>
          </a:xfrm>
          <a:prstGeom prst="roundRect">
            <a:avLst>
              <a:gd name="adj" fmla="val 9783"/>
            </a:avLst>
          </a:prstGeom>
          <a:solidFill>
            <a:srgbClr val="FFFDF8"/>
          </a:solidFill>
          <a:ln w="10160">
            <a:solidFill>
              <a:srgbClr val="E5DCCB"/>
            </a:solidFill>
            <a:prstDash val="solid"/>
          </a:ln>
        </p:spPr>
        <p:txBody>
          <a:bodyPr/>
          <a:p/>
        </p:txBody>
      </p:sp>
      <p:sp>
        <p:nvSpPr>
          <p:cNvPr id="27" name="Text 25"/>
          <p:cNvSpPr/>
          <p:nvPr/>
        </p:nvSpPr>
        <p:spPr>
          <a:xfrm>
            <a:off x="6793992" y="2834640"/>
            <a:ext cx="3648456" cy="228600"/>
          </a:xfrm>
          <a:prstGeom prst="rect">
            <a:avLst/>
          </a:prstGeom>
          <a:noFill/>
          <a:ln/>
        </p:spPr>
        <p:txBody>
          <a:bodyPr wrap="square" lIns="0" tIns="0" rIns="0" bIns="0" rtlCol="0" anchor="ctr">
            <a:normAutofit/>
          </a:bodyPr>
          <a:lstStyle/>
          <a:p>
            <a:pPr marL="0" indent="0">
              <a:buNone/>
            </a:pPr>
            <a:r>
              <a:rPr lang="en-US" sz="1000" b="1" dirty="0">
                <a:solidFill>
                  <a:srgbClr val="8D7A61"/>
                </a:solidFill>
                <a:latin typeface="Arial" pitchFamily="34" charset="0"/>
                <a:ea typeface="Arial" pitchFamily="34" charset="-122"/>
                <a:cs typeface="Arial" pitchFamily="34" charset="-120"/>
              </a:rPr>
              <a:t>~1 HOUR DELAY</a:t>
            </a:r>
            <a:endParaRPr lang="en-US" sz="1000" dirty="0"/>
          </a:p>
        </p:txBody>
      </p:sp>
      <p:sp>
        <p:nvSpPr>
          <p:cNvPr id="28" name="Text 26"/>
          <p:cNvSpPr/>
          <p:nvPr/>
        </p:nvSpPr>
        <p:spPr>
          <a:xfrm>
            <a:off x="6793992" y="3200400"/>
            <a:ext cx="3648456" cy="219456"/>
          </a:xfrm>
          <a:prstGeom prst="rect">
            <a:avLst/>
          </a:prstGeom>
          <a:noFill/>
          <a:ln/>
        </p:spPr>
        <p:txBody>
          <a:bodyPr wrap="square" lIns="127" tIns="127" rIns="127" bIns="127" rtlCol="0" anchor="ctr">
            <a:normAutofit/>
          </a:bodyPr>
          <a:lstStyle/>
          <a:p>
            <a:pPr marL="0" indent="0">
              <a:buNone/>
            </a:pPr>
            <a:r>
              <a:rPr lang="en-US" sz="1350" b="1" dirty="0">
                <a:solidFill>
                  <a:srgbClr val="351F15"/>
                </a:solidFill>
                <a:latin typeface="Arial" pitchFamily="34" charset="0"/>
                <a:ea typeface="Arial" pitchFamily="34" charset="-122"/>
                <a:cs typeface="Arial" pitchFamily="34" charset="-120"/>
              </a:rPr>
              <a:t>after moving a worker between events</a:t>
            </a:r>
            <a:endParaRPr lang="en-US" sz="1350" dirty="0"/>
          </a:p>
        </p:txBody>
      </p:sp>
      <p:sp>
        <p:nvSpPr>
          <p:cNvPr id="29" name="Shape 27"/>
          <p:cNvSpPr/>
          <p:nvPr/>
        </p:nvSpPr>
        <p:spPr>
          <a:xfrm>
            <a:off x="6629400" y="3767328"/>
            <a:ext cx="3977640" cy="841248"/>
          </a:xfrm>
          <a:prstGeom prst="roundRect">
            <a:avLst>
              <a:gd name="adj" fmla="val 9783"/>
            </a:avLst>
          </a:prstGeom>
          <a:solidFill>
            <a:srgbClr val="FFFDF8"/>
          </a:solidFill>
          <a:ln w="10160">
            <a:solidFill>
              <a:srgbClr val="E5DCCB"/>
            </a:solidFill>
            <a:prstDash val="solid"/>
          </a:ln>
        </p:spPr>
        <p:txBody>
          <a:bodyPr/>
          <a:p/>
        </p:txBody>
      </p:sp>
      <p:sp>
        <p:nvSpPr>
          <p:cNvPr id="30" name="Text 28"/>
          <p:cNvSpPr/>
          <p:nvPr/>
        </p:nvSpPr>
        <p:spPr>
          <a:xfrm>
            <a:off x="6793992" y="3904488"/>
            <a:ext cx="3648456" cy="228600"/>
          </a:xfrm>
          <a:prstGeom prst="rect">
            <a:avLst/>
          </a:prstGeom>
          <a:noFill/>
          <a:ln/>
        </p:spPr>
        <p:txBody>
          <a:bodyPr wrap="square" lIns="0" tIns="0" rIns="0" bIns="0" rtlCol="0" anchor="ctr">
            <a:normAutofit/>
          </a:bodyPr>
          <a:lstStyle/>
          <a:p>
            <a:pPr marL="0" indent="0">
              <a:buNone/>
            </a:pPr>
            <a:r>
              <a:rPr lang="en-US" sz="1000" b="1" dirty="0">
                <a:solidFill>
                  <a:srgbClr val="8D7A61"/>
                </a:solidFill>
                <a:latin typeface="Arial" pitchFamily="34" charset="0"/>
                <a:ea typeface="Arial" pitchFamily="34" charset="-122"/>
                <a:cs typeface="Arial" pitchFamily="34" charset="-120"/>
              </a:rPr>
              <a:t>30 MIN NOTICE</a:t>
            </a:r>
            <a:endParaRPr lang="en-US" sz="1000" dirty="0"/>
          </a:p>
        </p:txBody>
      </p:sp>
      <p:sp>
        <p:nvSpPr>
          <p:cNvPr id="31" name="Text 29"/>
          <p:cNvSpPr/>
          <p:nvPr/>
        </p:nvSpPr>
        <p:spPr>
          <a:xfrm>
            <a:off x="6793992" y="4270248"/>
            <a:ext cx="3648456" cy="219456"/>
          </a:xfrm>
          <a:prstGeom prst="rect">
            <a:avLst/>
          </a:prstGeom>
          <a:noFill/>
          <a:ln/>
        </p:spPr>
        <p:txBody>
          <a:bodyPr wrap="square" lIns="127" tIns="127" rIns="127" bIns="127" rtlCol="0" anchor="ctr">
            <a:normAutofit/>
          </a:bodyPr>
          <a:lstStyle/>
          <a:p>
            <a:pPr marL="0" indent="0">
              <a:buNone/>
            </a:pPr>
            <a:r>
              <a:rPr lang="en-US" sz="1350" b="1" dirty="0">
                <a:solidFill>
                  <a:srgbClr val="351F15"/>
                </a:solidFill>
                <a:latin typeface="Arial" pitchFamily="34" charset="0"/>
                <a:ea typeface="Arial" pitchFamily="34" charset="-122"/>
                <a:cs typeface="Arial" pitchFamily="34" charset="-120"/>
              </a:rPr>
              <a:t>worker drops out (rule: 4 hours)</a:t>
            </a:r>
            <a:endParaRPr lang="en-US" sz="1350" dirty="0"/>
          </a:p>
        </p:txBody>
      </p:sp>
      <p:sp>
        <p:nvSpPr>
          <p:cNvPr id="32" name="Text 30"/>
          <p:cNvSpPr/>
          <p:nvPr/>
        </p:nvSpPr>
        <p:spPr>
          <a:xfrm>
            <a:off x="987552" y="4892040"/>
            <a:ext cx="1463040" cy="201168"/>
          </a:xfrm>
          <a:prstGeom prst="rect">
            <a:avLst/>
          </a:prstGeom>
          <a:noFill/>
          <a:ln/>
        </p:spPr>
        <p:txBody>
          <a:bodyPr wrap="square" lIns="0" tIns="0" rIns="0" bIns="0" rtlCol="0" anchor="ctr">
            <a:normAutofit/>
          </a:bodyPr>
          <a:lstStyle/>
          <a:p>
            <a:pPr marL="0" indent="0">
              <a:buNone/>
            </a:pPr>
            <a:r>
              <a:rPr lang="en-US" sz="850" b="1" dirty="0">
                <a:solidFill>
                  <a:srgbClr val="8D7A61"/>
                </a:solidFill>
                <a:latin typeface="Arial" pitchFamily="34" charset="0"/>
                <a:ea typeface="Arial" pitchFamily="34" charset="-122"/>
                <a:cs typeface="Arial" pitchFamily="34" charset="-120"/>
              </a:rPr>
              <a:t>OUR HANDOFF</a:t>
            </a:r>
            <a:endParaRPr lang="en-US" sz="850" dirty="0"/>
          </a:p>
        </p:txBody>
      </p:sp>
      <p:sp>
        <p:nvSpPr>
          <p:cNvPr id="33" name="Shape 31"/>
          <p:cNvSpPr/>
          <p:nvPr/>
        </p:nvSpPr>
        <p:spPr>
          <a:xfrm>
            <a:off x="987552" y="5285232"/>
            <a:ext cx="1243584" cy="530352"/>
          </a:xfrm>
          <a:prstGeom prst="roundRect">
            <a:avLst>
              <a:gd name="adj" fmla="val 13793"/>
            </a:avLst>
          </a:prstGeom>
          <a:solidFill>
            <a:srgbClr val="FFFDF8"/>
          </a:solidFill>
          <a:ln w="12700">
            <a:solidFill>
              <a:srgbClr val="E5DCCB"/>
            </a:solidFill>
            <a:prstDash val="solid"/>
          </a:ln>
        </p:spPr>
        <p:txBody>
          <a:bodyPr/>
          <a:p/>
        </p:txBody>
      </p:sp>
      <p:sp>
        <p:nvSpPr>
          <p:cNvPr id="34" name="Text 32"/>
          <p:cNvSpPr/>
          <p:nvPr/>
        </p:nvSpPr>
        <p:spPr>
          <a:xfrm>
            <a:off x="1060704" y="5413248"/>
            <a:ext cx="1097280" cy="329184"/>
          </a:xfrm>
          <a:prstGeom prst="rect">
            <a:avLst/>
          </a:prstGeom>
          <a:noFill/>
          <a:ln/>
        </p:spPr>
        <p:txBody>
          <a:bodyPr wrap="square" lIns="0" tIns="0" rIns="0" bIns="0" rtlCol="0" anchor="ctr">
            <a:normAutofit/>
          </a:bodyPr>
          <a:lstStyle/>
          <a:p>
            <a:pPr marL="0" indent="0" algn="ctr">
              <a:buNone/>
            </a:pPr>
            <a:r>
              <a:rPr lang="en-US" sz="1000" b="1" dirty="0">
                <a:solidFill>
                  <a:srgbClr val="351F15"/>
                </a:solidFill>
                <a:latin typeface="Arial" pitchFamily="34" charset="0"/>
                <a:ea typeface="Arial" pitchFamily="34" charset="-122"/>
                <a:cs typeface="Arial" pitchFamily="34" charset="-120"/>
              </a:rPr>
              <a:t>Customer</a:t>
            </a:r>
            <a:endParaRPr lang="en-US" sz="1000" dirty="0"/>
          </a:p>
          <a:p>
            <a:pPr marL="0" indent="0" algn="ctr">
              <a:buNone/>
            </a:pPr>
            <a:r>
              <a:rPr lang="en-US" sz="1000" b="1" dirty="0">
                <a:solidFill>
                  <a:srgbClr val="351F15"/>
                </a:solidFill>
                <a:latin typeface="Arial" pitchFamily="34" charset="0"/>
                <a:ea typeface="Arial" pitchFamily="34" charset="-122"/>
                <a:cs typeface="Arial" pitchFamily="34" charset="-120"/>
              </a:rPr>
              <a:t>request</a:t>
            </a:r>
            <a:endParaRPr lang="en-US" sz="1000" dirty="0"/>
          </a:p>
        </p:txBody>
      </p:sp>
      <p:sp>
        <p:nvSpPr>
          <p:cNvPr id="35" name="Shape 33"/>
          <p:cNvSpPr/>
          <p:nvPr/>
        </p:nvSpPr>
        <p:spPr>
          <a:xfrm>
            <a:off x="2286000" y="5550408"/>
            <a:ext cx="393192" cy="0"/>
          </a:xfrm>
          <a:prstGeom prst="line">
            <a:avLst/>
          </a:prstGeom>
          <a:noFill/>
          <a:ln w="15240">
            <a:solidFill>
              <a:srgbClr val="9D8762"/>
            </a:solidFill>
            <a:prstDash val="solid"/>
            <a:headEnd type="none"/>
            <a:tailEnd type="triangle"/>
          </a:ln>
        </p:spPr>
        <p:txBody>
          <a:bodyPr/>
          <a:p/>
        </p:txBody>
      </p:sp>
      <p:sp>
        <p:nvSpPr>
          <p:cNvPr id="36" name="Shape 34"/>
          <p:cNvSpPr/>
          <p:nvPr/>
        </p:nvSpPr>
        <p:spPr>
          <a:xfrm>
            <a:off x="2706624" y="5285232"/>
            <a:ext cx="1243584" cy="530352"/>
          </a:xfrm>
          <a:prstGeom prst="roundRect">
            <a:avLst>
              <a:gd name="adj" fmla="val 13793"/>
            </a:avLst>
          </a:prstGeom>
          <a:solidFill>
            <a:srgbClr val="FFFDF8"/>
          </a:solidFill>
          <a:ln w="12700">
            <a:solidFill>
              <a:srgbClr val="E5DCCB"/>
            </a:solidFill>
            <a:prstDash val="solid"/>
          </a:ln>
        </p:spPr>
        <p:txBody>
          <a:bodyPr/>
          <a:p/>
        </p:txBody>
      </p:sp>
      <p:sp>
        <p:nvSpPr>
          <p:cNvPr id="37" name="Text 35"/>
          <p:cNvSpPr/>
          <p:nvPr/>
        </p:nvSpPr>
        <p:spPr>
          <a:xfrm>
            <a:off x="2779776" y="5413248"/>
            <a:ext cx="1097280" cy="329184"/>
          </a:xfrm>
          <a:prstGeom prst="rect">
            <a:avLst/>
          </a:prstGeom>
          <a:noFill/>
          <a:ln/>
        </p:spPr>
        <p:txBody>
          <a:bodyPr wrap="square" lIns="0" tIns="0" rIns="0" bIns="0" rtlCol="0" anchor="ctr">
            <a:normAutofit/>
          </a:bodyPr>
          <a:lstStyle/>
          <a:p>
            <a:pPr marL="0" indent="0" algn="ctr">
              <a:buNone/>
            </a:pPr>
            <a:r>
              <a:rPr lang="en-US" sz="1000" b="1" dirty="0">
                <a:solidFill>
                  <a:srgbClr val="351F15"/>
                </a:solidFill>
                <a:latin typeface="Arial" pitchFamily="34" charset="0"/>
                <a:ea typeface="Arial" pitchFamily="34" charset="-122"/>
                <a:cs typeface="Arial" pitchFamily="34" charset="-120"/>
              </a:rPr>
              <a:t>AI</a:t>
            </a:r>
            <a:endParaRPr lang="en-US" sz="1000" dirty="0"/>
          </a:p>
          <a:p>
            <a:pPr marL="0" indent="0" algn="ctr">
              <a:buNone/>
            </a:pPr>
            <a:r>
              <a:rPr lang="en-US" sz="1000" b="1" dirty="0">
                <a:solidFill>
                  <a:srgbClr val="351F15"/>
                </a:solidFill>
                <a:latin typeface="Arial" pitchFamily="34" charset="0"/>
                <a:ea typeface="Arial" pitchFamily="34" charset="-122"/>
                <a:cs typeface="Arial" pitchFamily="34" charset="-120"/>
              </a:rPr>
              <a:t>plan</a:t>
            </a:r>
            <a:endParaRPr lang="en-US" sz="1000" dirty="0"/>
          </a:p>
        </p:txBody>
      </p:sp>
      <p:sp>
        <p:nvSpPr>
          <p:cNvPr id="38" name="Shape 36"/>
          <p:cNvSpPr/>
          <p:nvPr/>
        </p:nvSpPr>
        <p:spPr>
          <a:xfrm>
            <a:off x="4005072" y="5550408"/>
            <a:ext cx="393192" cy="0"/>
          </a:xfrm>
          <a:prstGeom prst="line">
            <a:avLst/>
          </a:prstGeom>
          <a:noFill/>
          <a:ln w="15240">
            <a:solidFill>
              <a:srgbClr val="9D8762"/>
            </a:solidFill>
            <a:prstDash val="solid"/>
            <a:headEnd type="none"/>
            <a:tailEnd type="triangle"/>
          </a:ln>
        </p:spPr>
        <p:txBody>
          <a:bodyPr/>
          <a:p/>
        </p:txBody>
      </p:sp>
      <p:sp>
        <p:nvSpPr>
          <p:cNvPr id="39" name="Shape 37"/>
          <p:cNvSpPr/>
          <p:nvPr/>
        </p:nvSpPr>
        <p:spPr>
          <a:xfrm>
            <a:off x="4425696" y="5285232"/>
            <a:ext cx="1243584" cy="530352"/>
          </a:xfrm>
          <a:prstGeom prst="roundRect">
            <a:avLst>
              <a:gd name="adj" fmla="val 13793"/>
            </a:avLst>
          </a:prstGeom>
          <a:solidFill>
            <a:srgbClr val="F2E8D7"/>
          </a:solidFill>
          <a:ln w="12700">
            <a:solidFill>
              <a:srgbClr val="E5DCCB"/>
            </a:solidFill>
            <a:prstDash val="solid"/>
          </a:ln>
        </p:spPr>
        <p:txBody>
          <a:bodyPr/>
          <a:p/>
        </p:txBody>
      </p:sp>
      <p:sp>
        <p:nvSpPr>
          <p:cNvPr id="40" name="Text 38"/>
          <p:cNvSpPr/>
          <p:nvPr/>
        </p:nvSpPr>
        <p:spPr>
          <a:xfrm>
            <a:off x="4498848" y="5413248"/>
            <a:ext cx="1097280" cy="329184"/>
          </a:xfrm>
          <a:prstGeom prst="rect">
            <a:avLst/>
          </a:prstGeom>
          <a:noFill/>
          <a:ln/>
        </p:spPr>
        <p:txBody>
          <a:bodyPr wrap="square" lIns="0" tIns="0" rIns="0" bIns="0" rtlCol="0" anchor="ctr">
            <a:normAutofit/>
          </a:bodyPr>
          <a:lstStyle/>
          <a:p>
            <a:pPr marL="0" indent="0" algn="ctr">
              <a:buNone/>
            </a:pPr>
            <a:r>
              <a:rPr lang="en-US" sz="1000" b="1" dirty="0">
                <a:solidFill>
                  <a:srgbClr val="351F15"/>
                </a:solidFill>
                <a:latin typeface="Arial" pitchFamily="34" charset="0"/>
                <a:ea typeface="Arial" pitchFamily="34" charset="-122"/>
                <a:cs typeface="Arial" pitchFamily="34" charset="-120"/>
              </a:rPr>
              <a:t>Rule</a:t>
            </a:r>
            <a:endParaRPr lang="en-US" sz="1000" dirty="0"/>
          </a:p>
          <a:p>
            <a:pPr marL="0" indent="0" algn="ctr">
              <a:buNone/>
            </a:pPr>
            <a:r>
              <a:rPr lang="en-US" sz="1000" b="1" dirty="0">
                <a:solidFill>
                  <a:srgbClr val="351F15"/>
                </a:solidFill>
                <a:latin typeface="Arial" pitchFamily="34" charset="0"/>
                <a:ea typeface="Arial" pitchFamily="34" charset="-122"/>
                <a:cs typeface="Arial" pitchFamily="34" charset="-120"/>
              </a:rPr>
              <a:t>validation</a:t>
            </a:r>
            <a:endParaRPr lang="en-US" sz="1000" dirty="0"/>
          </a:p>
        </p:txBody>
      </p:sp>
      <p:sp>
        <p:nvSpPr>
          <p:cNvPr id="41" name="Shape 39"/>
          <p:cNvSpPr/>
          <p:nvPr/>
        </p:nvSpPr>
        <p:spPr>
          <a:xfrm>
            <a:off x="5724144" y="5550408"/>
            <a:ext cx="393192" cy="0"/>
          </a:xfrm>
          <a:prstGeom prst="line">
            <a:avLst/>
          </a:prstGeom>
          <a:noFill/>
          <a:ln w="15240">
            <a:solidFill>
              <a:srgbClr val="9D8762"/>
            </a:solidFill>
            <a:prstDash val="solid"/>
            <a:headEnd type="none"/>
            <a:tailEnd type="triangle"/>
          </a:ln>
        </p:spPr>
        <p:txBody>
          <a:bodyPr/>
          <a:p/>
        </p:txBody>
      </p:sp>
      <p:sp>
        <p:nvSpPr>
          <p:cNvPr id="42" name="Shape 40"/>
          <p:cNvSpPr/>
          <p:nvPr/>
        </p:nvSpPr>
        <p:spPr>
          <a:xfrm>
            <a:off x="6144768" y="5285232"/>
            <a:ext cx="1243584" cy="530352"/>
          </a:xfrm>
          <a:prstGeom prst="roundRect">
            <a:avLst>
              <a:gd name="adj" fmla="val 13793"/>
            </a:avLst>
          </a:prstGeom>
          <a:solidFill>
            <a:srgbClr val="FFFDF8"/>
          </a:solidFill>
          <a:ln w="12700">
            <a:solidFill>
              <a:srgbClr val="E5DCCB"/>
            </a:solidFill>
            <a:prstDash val="solid"/>
          </a:ln>
        </p:spPr>
        <p:txBody>
          <a:bodyPr/>
          <a:p/>
        </p:txBody>
      </p:sp>
      <p:sp>
        <p:nvSpPr>
          <p:cNvPr id="43" name="Text 41"/>
          <p:cNvSpPr/>
          <p:nvPr/>
        </p:nvSpPr>
        <p:spPr>
          <a:xfrm>
            <a:off x="6217920" y="5413248"/>
            <a:ext cx="1097280" cy="329184"/>
          </a:xfrm>
          <a:prstGeom prst="rect">
            <a:avLst/>
          </a:prstGeom>
          <a:noFill/>
          <a:ln/>
        </p:spPr>
        <p:txBody>
          <a:bodyPr wrap="square" lIns="0" tIns="0" rIns="0" bIns="0" rtlCol="0" anchor="ctr">
            <a:normAutofit/>
          </a:bodyPr>
          <a:lstStyle/>
          <a:p>
            <a:pPr marL="0" indent="0" algn="ctr">
              <a:buNone/>
            </a:pPr>
            <a:r>
              <a:rPr lang="en-US" sz="1000" b="1" dirty="0">
                <a:solidFill>
                  <a:srgbClr val="351F15"/>
                </a:solidFill>
                <a:latin typeface="Arial" pitchFamily="34" charset="0"/>
                <a:ea typeface="Arial" pitchFamily="34" charset="-122"/>
                <a:cs typeface="Arial" pitchFamily="34" charset="-120"/>
              </a:rPr>
              <a:t>Human</a:t>
            </a:r>
            <a:endParaRPr lang="en-US" sz="1000" dirty="0"/>
          </a:p>
          <a:p>
            <a:pPr marL="0" indent="0" algn="ctr">
              <a:buNone/>
            </a:pPr>
            <a:r>
              <a:rPr lang="en-US" sz="1000" b="1" dirty="0">
                <a:solidFill>
                  <a:srgbClr val="351F15"/>
                </a:solidFill>
                <a:latin typeface="Arial" pitchFamily="34" charset="0"/>
                <a:ea typeface="Arial" pitchFamily="34" charset="-122"/>
                <a:cs typeface="Arial" pitchFamily="34" charset="-120"/>
              </a:rPr>
              <a:t>approval</a:t>
            </a:r>
            <a:endParaRPr lang="en-US" sz="1000" dirty="0"/>
          </a:p>
        </p:txBody>
      </p:sp>
      <p:sp>
        <p:nvSpPr>
          <p:cNvPr id="44" name="Shape 42"/>
          <p:cNvSpPr/>
          <p:nvPr/>
        </p:nvSpPr>
        <p:spPr>
          <a:xfrm>
            <a:off x="7443216" y="5550408"/>
            <a:ext cx="393192" cy="0"/>
          </a:xfrm>
          <a:prstGeom prst="line">
            <a:avLst/>
          </a:prstGeom>
          <a:noFill/>
          <a:ln w="15240">
            <a:solidFill>
              <a:srgbClr val="9D8762"/>
            </a:solidFill>
            <a:prstDash val="solid"/>
            <a:headEnd type="none"/>
            <a:tailEnd type="triangle"/>
          </a:ln>
        </p:spPr>
        <p:txBody>
          <a:bodyPr/>
          <a:p/>
        </p:txBody>
      </p:sp>
      <p:sp>
        <p:nvSpPr>
          <p:cNvPr id="45" name="Shape 43"/>
          <p:cNvSpPr/>
          <p:nvPr/>
        </p:nvSpPr>
        <p:spPr>
          <a:xfrm>
            <a:off x="7863840" y="5285232"/>
            <a:ext cx="1243584" cy="530352"/>
          </a:xfrm>
          <a:prstGeom prst="roundRect">
            <a:avLst>
              <a:gd name="adj" fmla="val 13793"/>
            </a:avLst>
          </a:prstGeom>
          <a:solidFill>
            <a:srgbClr val="FFFDF8"/>
          </a:solidFill>
          <a:ln w="12700">
            <a:solidFill>
              <a:srgbClr val="E5DCCB"/>
            </a:solidFill>
            <a:prstDash val="solid"/>
          </a:ln>
        </p:spPr>
        <p:txBody>
          <a:bodyPr/>
          <a:p/>
        </p:txBody>
      </p:sp>
      <p:sp>
        <p:nvSpPr>
          <p:cNvPr id="46" name="Text 44"/>
          <p:cNvSpPr/>
          <p:nvPr/>
        </p:nvSpPr>
        <p:spPr>
          <a:xfrm>
            <a:off x="7936992" y="5413248"/>
            <a:ext cx="1097280" cy="329184"/>
          </a:xfrm>
          <a:prstGeom prst="rect">
            <a:avLst/>
          </a:prstGeom>
          <a:noFill/>
          <a:ln/>
        </p:spPr>
        <p:txBody>
          <a:bodyPr wrap="square" lIns="0" tIns="0" rIns="0" bIns="0" rtlCol="0" anchor="ctr">
            <a:normAutofit/>
          </a:bodyPr>
          <a:lstStyle/>
          <a:p>
            <a:pPr marL="0" indent="0" algn="ctr">
              <a:buNone/>
            </a:pPr>
            <a:r>
              <a:rPr lang="en-US" sz="1000" b="1" dirty="0">
                <a:solidFill>
                  <a:srgbClr val="351F15"/>
                </a:solidFill>
                <a:latin typeface="Arial" pitchFamily="34" charset="0"/>
                <a:ea typeface="Arial" pitchFamily="34" charset="-122"/>
                <a:cs typeface="Arial" pitchFamily="34" charset="-120"/>
              </a:rPr>
              <a:t>Worker</a:t>
            </a:r>
            <a:endParaRPr lang="en-US" sz="1000" dirty="0"/>
          </a:p>
          <a:p>
            <a:pPr marL="0" indent="0" algn="ctr">
              <a:buNone/>
            </a:pPr>
            <a:r>
              <a:rPr lang="en-US" sz="1000" b="1" dirty="0">
                <a:solidFill>
                  <a:srgbClr val="351F15"/>
                </a:solidFill>
                <a:latin typeface="Arial" pitchFamily="34" charset="0"/>
                <a:ea typeface="Arial" pitchFamily="34" charset="-122"/>
                <a:cs typeface="Arial" pitchFamily="34" charset="-120"/>
              </a:rPr>
              <a:t>actions</a:t>
            </a:r>
            <a:endParaRPr lang="en-US" sz="1000" dirty="0"/>
          </a:p>
        </p:txBody>
      </p:sp>
      <p:sp>
        <p:nvSpPr>
          <p:cNvPr id="47" name="Shape 45"/>
          <p:cNvSpPr/>
          <p:nvPr/>
        </p:nvSpPr>
        <p:spPr>
          <a:xfrm>
            <a:off x="9162288" y="5550408"/>
            <a:ext cx="393192" cy="0"/>
          </a:xfrm>
          <a:prstGeom prst="line">
            <a:avLst/>
          </a:prstGeom>
          <a:noFill/>
          <a:ln w="15240">
            <a:solidFill>
              <a:srgbClr val="9D8762"/>
            </a:solidFill>
            <a:prstDash val="solid"/>
            <a:headEnd type="none"/>
            <a:tailEnd type="triangle"/>
          </a:ln>
        </p:spPr>
        <p:txBody>
          <a:bodyPr/>
          <a:p/>
        </p:txBody>
      </p:sp>
      <p:sp>
        <p:nvSpPr>
          <p:cNvPr id="48" name="Shape 46"/>
          <p:cNvSpPr/>
          <p:nvPr/>
        </p:nvSpPr>
        <p:spPr>
          <a:xfrm>
            <a:off x="9582912" y="5285232"/>
            <a:ext cx="1243584" cy="530352"/>
          </a:xfrm>
          <a:prstGeom prst="roundRect">
            <a:avLst>
              <a:gd name="adj" fmla="val 13793"/>
            </a:avLst>
          </a:prstGeom>
          <a:solidFill>
            <a:srgbClr val="FFFDF8"/>
          </a:solidFill>
          <a:ln w="12700">
            <a:solidFill>
              <a:srgbClr val="E5DCCB"/>
            </a:solidFill>
            <a:prstDash val="solid"/>
          </a:ln>
        </p:spPr>
        <p:txBody>
          <a:bodyPr/>
          <a:p/>
        </p:txBody>
      </p:sp>
      <p:sp>
        <p:nvSpPr>
          <p:cNvPr id="49" name="Text 47"/>
          <p:cNvSpPr/>
          <p:nvPr/>
        </p:nvSpPr>
        <p:spPr>
          <a:xfrm>
            <a:off x="9656064" y="5413248"/>
            <a:ext cx="1097280" cy="329184"/>
          </a:xfrm>
          <a:prstGeom prst="rect">
            <a:avLst/>
          </a:prstGeom>
          <a:noFill/>
          <a:ln/>
        </p:spPr>
        <p:txBody>
          <a:bodyPr wrap="square" lIns="0" tIns="0" rIns="0" bIns="0" rtlCol="0" anchor="ctr">
            <a:normAutofit/>
          </a:bodyPr>
          <a:lstStyle/>
          <a:p>
            <a:pPr marL="0" indent="0" algn="ctr">
              <a:buNone/>
            </a:pPr>
            <a:r>
              <a:rPr lang="en-US" sz="1000" b="1" dirty="0">
                <a:solidFill>
                  <a:srgbClr val="351F15"/>
                </a:solidFill>
                <a:latin typeface="Arial" pitchFamily="34" charset="0"/>
                <a:ea typeface="Arial" pitchFamily="34" charset="-122"/>
                <a:cs typeface="Arial" pitchFamily="34" charset="-120"/>
              </a:rPr>
              <a:t>Recovery</a:t>
            </a:r>
            <a:endParaRPr lang="en-US" sz="1000" dirty="0"/>
          </a:p>
          <a:p>
            <a:pPr marL="0" indent="0" algn="ctr">
              <a:buNone/>
            </a:pPr>
            <a:r>
              <a:rPr lang="en-US" sz="1000" b="1" dirty="0">
                <a:solidFill>
                  <a:srgbClr val="351F15"/>
                </a:solidFill>
                <a:latin typeface="Arial" pitchFamily="34" charset="0"/>
                <a:ea typeface="Arial" pitchFamily="34" charset="-122"/>
                <a:cs typeface="Arial" pitchFamily="34" charset="-120"/>
              </a:rPr>
              <a:t>+ report</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3EA"/>
        </a:solidFill>
        <a:effectLst/>
      </p:bgPr>
    </p:bg>
    <p:spTree>
      <p:nvGrpSpPr>
        <p:cNvPr id="1" name=""/>
        <p:cNvGrpSpPr/>
        <p:nvPr/>
      </p:nvGrpSpPr>
      <p:grpSpPr>
        <a:xfrm>
          <a:off x="0" y="0"/>
          <a:ext cx="0" cy="0"/>
          <a:chOff x="0" y="0"/>
          <a:chExt cx="0" cy="0"/>
        </a:xfrm>
      </p:grpSpPr>
      <p:sp>
        <p:nvSpPr>
          <p:cNvPr id="2" name="Shape 0"/>
          <p:cNvSpPr/>
          <p:nvPr/>
        </p:nvSpPr>
        <p:spPr>
          <a:xfrm>
            <a:off x="219456" y="219456"/>
            <a:ext cx="11759184" cy="6419088"/>
          </a:xfrm>
          <a:prstGeom prst="rect">
            <a:avLst/>
          </a:prstGeom>
          <a:solidFill>
            <a:srgbClr val="F8F3EA">
              <a:alpha val="0"/>
            </a:srgbClr>
          </a:solidFill>
          <a:ln w="12700">
            <a:solidFill>
              <a:srgbClr val="E5DCCB"/>
            </a:solidFill>
            <a:prstDash val="solid"/>
          </a:ln>
        </p:spPr>
        <p:txBody>
          <a:bodyPr/>
          <a:p/>
        </p:txBody>
      </p:sp>
      <p:sp>
        <p:nvSpPr>
          <p:cNvPr id="3" name="Text 1"/>
          <p:cNvSpPr/>
          <p:nvPr/>
        </p:nvSpPr>
        <p:spPr>
          <a:xfrm>
            <a:off x="960120" y="694944"/>
            <a:ext cx="2743200" cy="228600"/>
          </a:xfrm>
          <a:prstGeom prst="rect">
            <a:avLst/>
          </a:prstGeom>
          <a:noFill/>
          <a:ln/>
        </p:spPr>
        <p:txBody>
          <a:bodyPr wrap="square" lIns="0" tIns="0" rIns="0" bIns="0" rtlCol="0" anchor="ctr"/>
          <a:lstStyle/>
          <a:p>
            <a:pPr marL="0" indent="0">
              <a:buNone/>
            </a:pPr>
            <a:r>
              <a:rPr lang="en-US" sz="900" b="1" dirty="0">
                <a:solidFill>
                  <a:srgbClr val="8D7A61"/>
                </a:solidFill>
                <a:latin typeface="Arial" pitchFamily="34" charset="0"/>
                <a:ea typeface="Arial" pitchFamily="34" charset="-122"/>
                <a:cs typeface="Arial" pitchFamily="34" charset="-120"/>
              </a:rPr>
              <a:t>FINAL PROJECT PRESENTATION</a:t>
            </a:r>
            <a:endParaRPr lang="en-US" sz="900" dirty="0"/>
          </a:p>
        </p:txBody>
      </p:sp>
      <p:sp>
        <p:nvSpPr>
          <p:cNvPr id="4" name="Text 2"/>
          <p:cNvSpPr/>
          <p:nvPr/>
        </p:nvSpPr>
        <p:spPr>
          <a:xfrm>
            <a:off x="10149840" y="512064"/>
            <a:ext cx="1280160" cy="228600"/>
          </a:xfrm>
          <a:prstGeom prst="rect">
            <a:avLst/>
          </a:prstGeom>
          <a:noFill/>
          <a:ln/>
        </p:spPr>
        <p:txBody>
          <a:bodyPr wrap="square" lIns="0" tIns="0" rIns="0" bIns="0" rtlCol="0" anchor="ctr"/>
          <a:lstStyle/>
          <a:p>
            <a:pPr marL="0" indent="0" algn="r">
              <a:buNone/>
            </a:pPr>
            <a:r>
              <a:rPr lang="en-US" sz="900" b="1" dirty="0">
                <a:solidFill>
                  <a:srgbClr val="8D7A61"/>
                </a:solidFill>
                <a:latin typeface="Arial" pitchFamily="34" charset="0"/>
                <a:ea typeface="Arial" pitchFamily="34" charset="-122"/>
                <a:cs typeface="Arial" pitchFamily="34" charset="-120"/>
              </a:rPr>
              <a:t>TEAM HI5</a:t>
            </a:r>
            <a:endParaRPr lang="en-US" sz="900" dirty="0"/>
          </a:p>
        </p:txBody>
      </p:sp>
      <p:sp>
        <p:nvSpPr>
          <p:cNvPr id="5" name="Text 3"/>
          <p:cNvSpPr/>
          <p:nvPr/>
        </p:nvSpPr>
        <p:spPr>
          <a:xfrm>
            <a:off x="11292840" y="6291072"/>
            <a:ext cx="320040" cy="182880"/>
          </a:xfrm>
          <a:prstGeom prst="rect">
            <a:avLst/>
          </a:prstGeom>
          <a:noFill/>
          <a:ln/>
        </p:spPr>
        <p:txBody>
          <a:bodyPr wrap="square" lIns="0" tIns="0" rIns="0" bIns="0" rtlCol="0" anchor="ctr"/>
          <a:lstStyle/>
          <a:p>
            <a:pPr marL="0" indent="0" algn="r">
              <a:buNone/>
            </a:pPr>
            <a:r>
              <a:rPr lang="en-US" sz="800" dirty="0">
                <a:solidFill>
                  <a:srgbClr val="8D7A61"/>
                </a:solidFill>
                <a:latin typeface="Arial" pitchFamily="34" charset="0"/>
                <a:ea typeface="Arial" pitchFamily="34" charset="-122"/>
                <a:cs typeface="Arial" pitchFamily="34" charset="-120"/>
              </a:rPr>
              <a:t>03</a:t>
            </a:r>
            <a:endParaRPr lang="en-US" sz="800" dirty="0"/>
          </a:p>
        </p:txBody>
      </p:sp>
      <p:sp>
        <p:nvSpPr>
          <p:cNvPr id="6" name="Text 4"/>
          <p:cNvSpPr/>
          <p:nvPr/>
        </p:nvSpPr>
        <p:spPr>
          <a:xfrm>
            <a:off x="960120" y="1060704"/>
            <a:ext cx="4572000" cy="914400"/>
          </a:xfrm>
          <a:prstGeom prst="rect">
            <a:avLst/>
          </a:prstGeom>
          <a:noFill/>
          <a:ln/>
        </p:spPr>
        <p:txBody>
          <a:bodyPr wrap="square" lIns="0" tIns="0" rIns="0" bIns="0" rtlCol="0" anchor="ctr">
            <a:normAutofit/>
          </a:bodyPr>
          <a:lstStyle/>
          <a:p>
            <a:pPr marL="0" indent="0">
              <a:buNone/>
            </a:pPr>
            <a:r>
              <a:rPr lang="en-US" sz="2800" dirty="0">
                <a:solidFill>
                  <a:srgbClr val="351F15"/>
                </a:solidFill>
                <a:latin typeface="Arial" pitchFamily="34" charset="0"/>
                <a:ea typeface="Arial" pitchFamily="34" charset="-122"/>
                <a:cs typeface="Arial" pitchFamily="34" charset="-120"/>
              </a:rPr>
              <a:t>AI plans. Code checks.</a:t>
            </a:r>
            <a:endParaRPr lang="en-US" sz="2800" dirty="0"/>
          </a:p>
          <a:p>
            <a:pPr marL="0" indent="0">
              <a:buNone/>
            </a:pPr>
            <a:r>
              <a:rPr lang="en-US" sz="2800" dirty="0">
                <a:solidFill>
                  <a:srgbClr val="351F15"/>
                </a:solidFill>
                <a:latin typeface="Arial" pitchFamily="34" charset="0"/>
                <a:ea typeface="Arial" pitchFamily="34" charset="-122"/>
                <a:cs typeface="Arial" pitchFamily="34" charset="-120"/>
              </a:rPr>
              <a:t>Human approves.</a:t>
            </a:r>
            <a:endParaRPr lang="en-US" sz="2800" dirty="0"/>
          </a:p>
        </p:txBody>
      </p:sp>
      <p:sp>
        <p:nvSpPr>
          <p:cNvPr id="7" name="Text 5"/>
          <p:cNvSpPr/>
          <p:nvPr/>
        </p:nvSpPr>
        <p:spPr>
          <a:xfrm>
            <a:off x="987552" y="2359152"/>
            <a:ext cx="4983480" cy="320040"/>
          </a:xfrm>
          <a:prstGeom prst="rect">
            <a:avLst/>
          </a:prstGeom>
          <a:noFill/>
          <a:ln/>
        </p:spPr>
        <p:txBody>
          <a:bodyPr wrap="square" lIns="0" tIns="0" rIns="0" bIns="0" rtlCol="0" anchor="ctr">
            <a:normAutofit/>
          </a:bodyPr>
          <a:lstStyle/>
          <a:p>
            <a:pPr marL="0" indent="0">
              <a:buNone/>
            </a:pPr>
            <a:r>
              <a:rPr lang="en-US" sz="1240" dirty="0">
                <a:solidFill>
                  <a:srgbClr val="8D7A61"/>
                </a:solidFill>
                <a:latin typeface="Arial" pitchFamily="34" charset="0"/>
                <a:ea typeface="Arial" pitchFamily="34" charset="-122"/>
                <a:cs typeface="Arial" pitchFamily="34" charset="-120"/>
              </a:rPr>
              <a:t>Hi5 does not replace the leader. It turns a request into a controlled execution flow.</a:t>
            </a:r>
            <a:endParaRPr lang="en-US" sz="1240" dirty="0"/>
          </a:p>
        </p:txBody>
      </p:sp>
      <p:sp>
        <p:nvSpPr>
          <p:cNvPr id="8" name="Text 6"/>
          <p:cNvSpPr/>
          <p:nvPr/>
        </p:nvSpPr>
        <p:spPr>
          <a:xfrm>
            <a:off x="987552" y="2871216"/>
            <a:ext cx="1097280" cy="201168"/>
          </a:xfrm>
          <a:prstGeom prst="rect">
            <a:avLst/>
          </a:prstGeom>
          <a:noFill/>
          <a:ln/>
        </p:spPr>
        <p:txBody>
          <a:bodyPr wrap="square" lIns="0" tIns="0" rIns="0" bIns="0" rtlCol="0" anchor="ctr">
            <a:normAutofit/>
          </a:bodyPr>
          <a:lstStyle/>
          <a:p>
            <a:pPr marL="0" indent="0">
              <a:buNone/>
            </a:pPr>
            <a:r>
              <a:rPr lang="en-US" sz="850" b="1" dirty="0">
                <a:solidFill>
                  <a:srgbClr val="8D7A61"/>
                </a:solidFill>
                <a:latin typeface="Arial" pitchFamily="34" charset="0"/>
                <a:ea typeface="Arial" pitchFamily="34" charset="-122"/>
                <a:cs typeface="Arial" pitchFamily="34" charset="-120"/>
              </a:rPr>
              <a:t>DEMO FLOW</a:t>
            </a:r>
            <a:endParaRPr lang="en-US" sz="850" dirty="0"/>
          </a:p>
        </p:txBody>
      </p:sp>
      <p:sp>
        <p:nvSpPr>
          <p:cNvPr id="9" name="Shape 7"/>
          <p:cNvSpPr/>
          <p:nvPr/>
        </p:nvSpPr>
        <p:spPr>
          <a:xfrm>
            <a:off x="932688" y="3246120"/>
            <a:ext cx="841248" cy="566928"/>
          </a:xfrm>
          <a:prstGeom prst="roundRect">
            <a:avLst>
              <a:gd name="adj" fmla="val 12903"/>
            </a:avLst>
          </a:prstGeom>
          <a:solidFill>
            <a:srgbClr val="FFFDF8"/>
          </a:solidFill>
          <a:ln w="12700">
            <a:solidFill>
              <a:srgbClr val="E5DCCB"/>
            </a:solidFill>
            <a:prstDash val="solid"/>
          </a:ln>
        </p:spPr>
        <p:txBody>
          <a:bodyPr/>
          <a:p/>
        </p:txBody>
      </p:sp>
      <p:sp>
        <p:nvSpPr>
          <p:cNvPr id="10" name="Text 8"/>
          <p:cNvSpPr/>
          <p:nvPr/>
        </p:nvSpPr>
        <p:spPr>
          <a:xfrm>
            <a:off x="1005840" y="3374136"/>
            <a:ext cx="694944" cy="365760"/>
          </a:xfrm>
          <a:prstGeom prst="rect">
            <a:avLst/>
          </a:prstGeom>
          <a:noFill/>
          <a:ln/>
        </p:spPr>
        <p:txBody>
          <a:bodyPr wrap="square" lIns="0" tIns="0" rIns="0" bIns="0" rtlCol="0" anchor="ctr">
            <a:normAutofit/>
          </a:bodyPr>
          <a:lstStyle/>
          <a:p>
            <a:pPr marL="0" indent="0" algn="ctr">
              <a:buNone/>
            </a:pPr>
            <a:r>
              <a:rPr lang="en-US" sz="1000" b="1" dirty="0">
                <a:solidFill>
                  <a:srgbClr val="351F15"/>
                </a:solidFill>
                <a:latin typeface="Arial" pitchFamily="34" charset="0"/>
                <a:ea typeface="Arial" pitchFamily="34" charset="-122"/>
                <a:cs typeface="Arial" pitchFamily="34" charset="-120"/>
              </a:rPr>
              <a:t>Leader</a:t>
            </a:r>
            <a:endParaRPr lang="en-US" sz="1000" dirty="0"/>
          </a:p>
        </p:txBody>
      </p:sp>
      <p:sp>
        <p:nvSpPr>
          <p:cNvPr id="11" name="Shape 9"/>
          <p:cNvSpPr/>
          <p:nvPr/>
        </p:nvSpPr>
        <p:spPr>
          <a:xfrm>
            <a:off x="1828800" y="3529584"/>
            <a:ext cx="146304" cy="0"/>
          </a:xfrm>
          <a:prstGeom prst="line">
            <a:avLst/>
          </a:prstGeom>
          <a:noFill/>
          <a:ln w="15240">
            <a:solidFill>
              <a:srgbClr val="9D8762"/>
            </a:solidFill>
            <a:prstDash val="solid"/>
            <a:headEnd type="none"/>
            <a:tailEnd type="triangle"/>
          </a:ln>
        </p:spPr>
        <p:txBody>
          <a:bodyPr/>
          <a:p/>
        </p:txBody>
      </p:sp>
      <p:sp>
        <p:nvSpPr>
          <p:cNvPr id="12" name="Shape 10"/>
          <p:cNvSpPr/>
          <p:nvPr/>
        </p:nvSpPr>
        <p:spPr>
          <a:xfrm>
            <a:off x="2020824" y="3246120"/>
            <a:ext cx="841248" cy="566928"/>
          </a:xfrm>
          <a:prstGeom prst="roundRect">
            <a:avLst>
              <a:gd name="adj" fmla="val 12903"/>
            </a:avLst>
          </a:prstGeom>
          <a:solidFill>
            <a:srgbClr val="FFFDF8"/>
          </a:solidFill>
          <a:ln w="12700">
            <a:solidFill>
              <a:srgbClr val="E5DCCB"/>
            </a:solidFill>
            <a:prstDash val="solid"/>
          </a:ln>
        </p:spPr>
        <p:txBody>
          <a:bodyPr/>
          <a:p/>
        </p:txBody>
      </p:sp>
      <p:sp>
        <p:nvSpPr>
          <p:cNvPr id="13" name="Text 11"/>
          <p:cNvSpPr/>
          <p:nvPr/>
        </p:nvSpPr>
        <p:spPr>
          <a:xfrm>
            <a:off x="2093976" y="3374136"/>
            <a:ext cx="694944" cy="365760"/>
          </a:xfrm>
          <a:prstGeom prst="rect">
            <a:avLst/>
          </a:prstGeom>
          <a:noFill/>
          <a:ln/>
        </p:spPr>
        <p:txBody>
          <a:bodyPr wrap="square" lIns="0" tIns="0" rIns="0" bIns="0" rtlCol="0" anchor="ctr">
            <a:normAutofit/>
          </a:bodyPr>
          <a:lstStyle/>
          <a:p>
            <a:pPr marL="0" indent="0" algn="ctr">
              <a:buNone/>
            </a:pPr>
            <a:r>
              <a:rPr lang="en-US" sz="1000" b="1" dirty="0">
                <a:solidFill>
                  <a:srgbClr val="351F15"/>
                </a:solidFill>
                <a:latin typeface="Arial" pitchFamily="34" charset="0"/>
                <a:ea typeface="Arial" pitchFamily="34" charset="-122"/>
                <a:cs typeface="Arial" pitchFamily="34" charset="-120"/>
              </a:rPr>
              <a:t>AI Agent</a:t>
            </a:r>
            <a:endParaRPr lang="en-US" sz="1000" dirty="0"/>
          </a:p>
        </p:txBody>
      </p:sp>
      <p:sp>
        <p:nvSpPr>
          <p:cNvPr id="14" name="Shape 12"/>
          <p:cNvSpPr/>
          <p:nvPr/>
        </p:nvSpPr>
        <p:spPr>
          <a:xfrm>
            <a:off x="2916936" y="3529584"/>
            <a:ext cx="146304" cy="0"/>
          </a:xfrm>
          <a:prstGeom prst="line">
            <a:avLst/>
          </a:prstGeom>
          <a:noFill/>
          <a:ln w="15240">
            <a:solidFill>
              <a:srgbClr val="9D8762"/>
            </a:solidFill>
            <a:prstDash val="solid"/>
            <a:headEnd type="none"/>
            <a:tailEnd type="triangle"/>
          </a:ln>
        </p:spPr>
        <p:txBody>
          <a:bodyPr/>
          <a:p/>
        </p:txBody>
      </p:sp>
      <p:sp>
        <p:nvSpPr>
          <p:cNvPr id="15" name="Shape 13"/>
          <p:cNvSpPr/>
          <p:nvPr/>
        </p:nvSpPr>
        <p:spPr>
          <a:xfrm>
            <a:off x="3108960" y="3246120"/>
            <a:ext cx="841248" cy="566928"/>
          </a:xfrm>
          <a:prstGeom prst="roundRect">
            <a:avLst>
              <a:gd name="adj" fmla="val 12903"/>
            </a:avLst>
          </a:prstGeom>
          <a:solidFill>
            <a:srgbClr val="F2E8D7"/>
          </a:solidFill>
          <a:ln w="12700">
            <a:solidFill>
              <a:srgbClr val="E5DCCB"/>
            </a:solidFill>
            <a:prstDash val="solid"/>
          </a:ln>
        </p:spPr>
        <p:txBody>
          <a:bodyPr/>
          <a:p/>
        </p:txBody>
      </p:sp>
      <p:sp>
        <p:nvSpPr>
          <p:cNvPr id="16" name="Text 14"/>
          <p:cNvSpPr/>
          <p:nvPr/>
        </p:nvSpPr>
        <p:spPr>
          <a:xfrm>
            <a:off x="3182112" y="3374136"/>
            <a:ext cx="694944" cy="365760"/>
          </a:xfrm>
          <a:prstGeom prst="rect">
            <a:avLst/>
          </a:prstGeom>
          <a:noFill/>
          <a:ln/>
        </p:spPr>
        <p:txBody>
          <a:bodyPr wrap="square" lIns="0" tIns="0" rIns="0" bIns="0" rtlCol="0" anchor="ctr">
            <a:normAutofit/>
          </a:bodyPr>
          <a:lstStyle/>
          <a:p>
            <a:pPr marL="0" indent="0" algn="ctr">
              <a:buNone/>
            </a:pPr>
            <a:r>
              <a:rPr lang="en-US" sz="1000" b="1" dirty="0">
                <a:solidFill>
                  <a:srgbClr val="351F15"/>
                </a:solidFill>
                <a:latin typeface="Arial" pitchFamily="34" charset="0"/>
                <a:ea typeface="Arial" pitchFamily="34" charset="-122"/>
                <a:cs typeface="Arial" pitchFamily="34" charset="-120"/>
              </a:rPr>
              <a:t>Code</a:t>
            </a:r>
            <a:endParaRPr lang="en-US" sz="1000" dirty="0"/>
          </a:p>
          <a:p>
            <a:pPr marL="0" indent="0" algn="ctr">
              <a:buNone/>
            </a:pPr>
            <a:r>
              <a:rPr lang="en-US" sz="1000" b="1" dirty="0">
                <a:solidFill>
                  <a:srgbClr val="351F15"/>
                </a:solidFill>
                <a:latin typeface="Arial" pitchFamily="34" charset="0"/>
                <a:ea typeface="Arial" pitchFamily="34" charset="-122"/>
                <a:cs typeface="Arial" pitchFamily="34" charset="-120"/>
              </a:rPr>
              <a:t>rules</a:t>
            </a:r>
            <a:endParaRPr lang="en-US" sz="1000" dirty="0"/>
          </a:p>
        </p:txBody>
      </p:sp>
      <p:sp>
        <p:nvSpPr>
          <p:cNvPr id="17" name="Shape 15"/>
          <p:cNvSpPr/>
          <p:nvPr/>
        </p:nvSpPr>
        <p:spPr>
          <a:xfrm>
            <a:off x="4005072" y="3529584"/>
            <a:ext cx="146304" cy="0"/>
          </a:xfrm>
          <a:prstGeom prst="line">
            <a:avLst/>
          </a:prstGeom>
          <a:noFill/>
          <a:ln w="15240">
            <a:solidFill>
              <a:srgbClr val="9D8762"/>
            </a:solidFill>
            <a:prstDash val="solid"/>
            <a:headEnd type="none"/>
            <a:tailEnd type="triangle"/>
          </a:ln>
        </p:spPr>
        <p:txBody>
          <a:bodyPr/>
          <a:p/>
        </p:txBody>
      </p:sp>
      <p:sp>
        <p:nvSpPr>
          <p:cNvPr id="18" name="Shape 16"/>
          <p:cNvSpPr/>
          <p:nvPr/>
        </p:nvSpPr>
        <p:spPr>
          <a:xfrm>
            <a:off x="4197096" y="3246120"/>
            <a:ext cx="841248" cy="566928"/>
          </a:xfrm>
          <a:prstGeom prst="roundRect">
            <a:avLst>
              <a:gd name="adj" fmla="val 12903"/>
            </a:avLst>
          </a:prstGeom>
          <a:solidFill>
            <a:srgbClr val="FFFDF8"/>
          </a:solidFill>
          <a:ln w="12700">
            <a:solidFill>
              <a:srgbClr val="E5DCCB"/>
            </a:solidFill>
            <a:prstDash val="solid"/>
          </a:ln>
        </p:spPr>
        <p:txBody>
          <a:bodyPr/>
          <a:p/>
        </p:txBody>
      </p:sp>
      <p:sp>
        <p:nvSpPr>
          <p:cNvPr id="19" name="Text 17"/>
          <p:cNvSpPr/>
          <p:nvPr/>
        </p:nvSpPr>
        <p:spPr>
          <a:xfrm>
            <a:off x="4270248" y="3374136"/>
            <a:ext cx="694944" cy="365760"/>
          </a:xfrm>
          <a:prstGeom prst="rect">
            <a:avLst/>
          </a:prstGeom>
          <a:noFill/>
          <a:ln/>
        </p:spPr>
        <p:txBody>
          <a:bodyPr wrap="square" lIns="0" tIns="0" rIns="0" bIns="0" rtlCol="0" anchor="ctr">
            <a:normAutofit/>
          </a:bodyPr>
          <a:lstStyle/>
          <a:p>
            <a:pPr marL="0" indent="0" algn="ctr">
              <a:buNone/>
            </a:pPr>
            <a:r>
              <a:rPr lang="en-US" sz="1000" b="1" dirty="0">
                <a:solidFill>
                  <a:srgbClr val="351F15"/>
                </a:solidFill>
                <a:latin typeface="Arial" pitchFamily="34" charset="0"/>
                <a:ea typeface="Arial" pitchFamily="34" charset="-122"/>
                <a:cs typeface="Arial" pitchFamily="34" charset="-120"/>
              </a:rPr>
              <a:t>Leader</a:t>
            </a:r>
            <a:endParaRPr lang="en-US" sz="1000" dirty="0"/>
          </a:p>
          <a:p>
            <a:pPr marL="0" indent="0" algn="ctr">
              <a:buNone/>
            </a:pPr>
            <a:r>
              <a:rPr lang="en-US" sz="1000" b="1" dirty="0">
                <a:solidFill>
                  <a:srgbClr val="351F15"/>
                </a:solidFill>
                <a:latin typeface="Arial" pitchFamily="34" charset="0"/>
                <a:ea typeface="Arial" pitchFamily="34" charset="-122"/>
                <a:cs typeface="Arial" pitchFamily="34" charset="-120"/>
              </a:rPr>
              <a:t>approves</a:t>
            </a:r>
            <a:endParaRPr lang="en-US" sz="1000" dirty="0"/>
          </a:p>
        </p:txBody>
      </p:sp>
      <p:sp>
        <p:nvSpPr>
          <p:cNvPr id="20" name="Shape 18"/>
          <p:cNvSpPr/>
          <p:nvPr/>
        </p:nvSpPr>
        <p:spPr>
          <a:xfrm>
            <a:off x="5093208" y="3529584"/>
            <a:ext cx="146304" cy="0"/>
          </a:xfrm>
          <a:prstGeom prst="line">
            <a:avLst/>
          </a:prstGeom>
          <a:noFill/>
          <a:ln w="15240">
            <a:solidFill>
              <a:srgbClr val="9D8762"/>
            </a:solidFill>
            <a:prstDash val="solid"/>
            <a:headEnd type="none"/>
            <a:tailEnd type="triangle"/>
          </a:ln>
        </p:spPr>
        <p:txBody>
          <a:bodyPr/>
          <a:p/>
        </p:txBody>
      </p:sp>
      <p:sp>
        <p:nvSpPr>
          <p:cNvPr id="21" name="Shape 19"/>
          <p:cNvSpPr/>
          <p:nvPr/>
        </p:nvSpPr>
        <p:spPr>
          <a:xfrm>
            <a:off x="5285232" y="3246120"/>
            <a:ext cx="841248" cy="566928"/>
          </a:xfrm>
          <a:prstGeom prst="roundRect">
            <a:avLst>
              <a:gd name="adj" fmla="val 12903"/>
            </a:avLst>
          </a:prstGeom>
          <a:solidFill>
            <a:srgbClr val="FFFDF8"/>
          </a:solidFill>
          <a:ln w="12700">
            <a:solidFill>
              <a:srgbClr val="E5DCCB"/>
            </a:solidFill>
            <a:prstDash val="solid"/>
          </a:ln>
        </p:spPr>
        <p:txBody>
          <a:bodyPr/>
          <a:p/>
        </p:txBody>
      </p:sp>
      <p:sp>
        <p:nvSpPr>
          <p:cNvPr id="22" name="Text 20"/>
          <p:cNvSpPr/>
          <p:nvPr/>
        </p:nvSpPr>
        <p:spPr>
          <a:xfrm>
            <a:off x="5358384" y="3374136"/>
            <a:ext cx="694944" cy="365760"/>
          </a:xfrm>
          <a:prstGeom prst="rect">
            <a:avLst/>
          </a:prstGeom>
          <a:noFill/>
          <a:ln/>
        </p:spPr>
        <p:txBody>
          <a:bodyPr wrap="square" lIns="0" tIns="0" rIns="0" bIns="0" rtlCol="0" anchor="ctr">
            <a:normAutofit/>
          </a:bodyPr>
          <a:lstStyle/>
          <a:p>
            <a:pPr marL="0" indent="0" algn="ctr">
              <a:buNone/>
            </a:pPr>
            <a:r>
              <a:rPr lang="en-US" sz="1000" b="1" dirty="0">
                <a:solidFill>
                  <a:srgbClr val="351F15"/>
                </a:solidFill>
                <a:latin typeface="Arial" pitchFamily="34" charset="0"/>
                <a:ea typeface="Arial" pitchFamily="34" charset="-122"/>
                <a:cs typeface="Arial" pitchFamily="34" charset="-120"/>
              </a:rPr>
              <a:t>Team</a:t>
            </a:r>
            <a:endParaRPr lang="en-US" sz="1000" dirty="0"/>
          </a:p>
          <a:p>
            <a:pPr marL="0" indent="0" algn="ctr">
              <a:buNone/>
            </a:pPr>
            <a:r>
              <a:rPr lang="en-US" sz="1000" b="1" dirty="0">
                <a:solidFill>
                  <a:srgbClr val="351F15"/>
                </a:solidFill>
                <a:latin typeface="Arial" pitchFamily="34" charset="0"/>
                <a:ea typeface="Arial" pitchFamily="34" charset="-122"/>
                <a:cs typeface="Arial" pitchFamily="34" charset="-120"/>
              </a:rPr>
              <a:t>accepts</a:t>
            </a:r>
            <a:endParaRPr lang="en-US" sz="1000" dirty="0"/>
          </a:p>
        </p:txBody>
      </p:sp>
      <p:sp>
        <p:nvSpPr>
          <p:cNvPr id="23" name="Text 21"/>
          <p:cNvSpPr/>
          <p:nvPr/>
        </p:nvSpPr>
        <p:spPr>
          <a:xfrm>
            <a:off x="987552" y="4279392"/>
            <a:ext cx="1828800" cy="201168"/>
          </a:xfrm>
          <a:prstGeom prst="rect">
            <a:avLst/>
          </a:prstGeom>
          <a:noFill/>
          <a:ln/>
        </p:spPr>
        <p:txBody>
          <a:bodyPr wrap="square" lIns="0" tIns="0" rIns="0" bIns="0" rtlCol="0" anchor="ctr">
            <a:normAutofit/>
          </a:bodyPr>
          <a:lstStyle/>
          <a:p>
            <a:pPr marL="0" indent="0">
              <a:buNone/>
            </a:pPr>
            <a:r>
              <a:rPr lang="en-US" sz="850" b="1" dirty="0">
                <a:solidFill>
                  <a:srgbClr val="8D7A61"/>
                </a:solidFill>
                <a:latin typeface="Arial" pitchFamily="34" charset="0"/>
                <a:ea typeface="Arial" pitchFamily="34" charset="-122"/>
                <a:cs typeface="Arial" pitchFamily="34" charset="-120"/>
              </a:rPr>
              <a:t>WHAT IT DOES NOT DO</a:t>
            </a:r>
            <a:endParaRPr lang="en-US" sz="850" dirty="0"/>
          </a:p>
        </p:txBody>
      </p:sp>
      <p:sp>
        <p:nvSpPr>
          <p:cNvPr id="24" name="Text 22"/>
          <p:cNvSpPr/>
          <p:nvPr/>
        </p:nvSpPr>
        <p:spPr>
          <a:xfrm>
            <a:off x="987552" y="4617720"/>
            <a:ext cx="3840480" cy="822960"/>
          </a:xfrm>
          <a:prstGeom prst="rect">
            <a:avLst/>
          </a:prstGeom>
          <a:noFill/>
          <a:ln/>
        </p:spPr>
        <p:txBody>
          <a:bodyPr wrap="square" lIns="0" tIns="0" rIns="0" bIns="0" rtlCol="0" anchor="ctr">
            <a:normAutofit/>
          </a:bodyPr>
          <a:lstStyle/>
          <a:p>
            <a:pPr marL="0" indent="0">
              <a:buNone/>
            </a:pPr>
            <a:r>
              <a:rPr lang="en-US" sz="1260" dirty="0">
                <a:solidFill>
                  <a:srgbClr val="351F15"/>
                </a:solidFill>
                <a:latin typeface="Arial" pitchFamily="34" charset="0"/>
                <a:ea typeface="Arial" pitchFamily="34" charset="-122"/>
                <a:cs typeface="Arial" pitchFamily="34" charset="-120"/>
              </a:rPr>
              <a:t>• Does not talk to the client</a:t>
            </a:r>
            <a:endParaRPr lang="en-US" sz="1260" dirty="0"/>
          </a:p>
          <a:p>
            <a:pPr marL="0" indent="0">
              <a:buNone/>
            </a:pPr>
            <a:r>
              <a:rPr lang="en-US" sz="1260" dirty="0">
                <a:solidFill>
                  <a:srgbClr val="351F15"/>
                </a:solidFill>
                <a:latin typeface="Arial" pitchFamily="34" charset="0"/>
                <a:ea typeface="Arial" pitchFamily="34" charset="-122"/>
                <a:cs typeface="Arial" pitchFamily="34" charset="-120"/>
              </a:rPr>
              <a:t>• Does not approve by itself</a:t>
            </a:r>
            <a:endParaRPr lang="en-US" sz="1260" dirty="0"/>
          </a:p>
          <a:p>
            <a:pPr marL="0" indent="0">
              <a:buNone/>
            </a:pPr>
            <a:r>
              <a:rPr lang="en-US" sz="1260" dirty="0">
                <a:solidFill>
                  <a:srgbClr val="351F15"/>
                </a:solidFill>
                <a:latin typeface="Arial" pitchFamily="34" charset="0"/>
                <a:ea typeface="Arial" pitchFamily="34" charset="-122"/>
                <a:cs typeface="Arial" pitchFamily="34" charset="-120"/>
              </a:rPr>
              <a:t>• Does not assign anyone without ACCEPT</a:t>
            </a:r>
            <a:endParaRPr lang="en-US" sz="1260" dirty="0"/>
          </a:p>
        </p:txBody>
      </p:sp>
      <p:sp>
        <p:nvSpPr>
          <p:cNvPr id="25" name="Shape 23"/>
          <p:cNvSpPr/>
          <p:nvPr/>
        </p:nvSpPr>
        <p:spPr>
          <a:xfrm>
            <a:off x="6053328" y="1298448"/>
            <a:ext cx="0" cy="4370832"/>
          </a:xfrm>
          <a:prstGeom prst="line">
            <a:avLst/>
          </a:prstGeom>
          <a:noFill/>
          <a:ln w="15240">
            <a:solidFill>
              <a:srgbClr val="E5DCCB"/>
            </a:solidFill>
            <a:prstDash val="solid"/>
          </a:ln>
        </p:spPr>
        <p:txBody>
          <a:bodyPr/>
          <a:p/>
        </p:txBody>
      </p:sp>
      <p:sp>
        <p:nvSpPr>
          <p:cNvPr id="26" name="Text 24"/>
          <p:cNvSpPr/>
          <p:nvPr/>
        </p:nvSpPr>
        <p:spPr>
          <a:xfrm>
            <a:off x="6419088" y="1234440"/>
            <a:ext cx="914400" cy="201168"/>
          </a:xfrm>
          <a:prstGeom prst="rect">
            <a:avLst/>
          </a:prstGeom>
          <a:noFill/>
          <a:ln/>
        </p:spPr>
        <p:txBody>
          <a:bodyPr wrap="square" lIns="0" tIns="0" rIns="0" bIns="0" rtlCol="0" anchor="ctr">
            <a:normAutofit/>
          </a:bodyPr>
          <a:lstStyle/>
          <a:p>
            <a:pPr marL="0" indent="0">
              <a:buNone/>
            </a:pPr>
            <a:r>
              <a:rPr lang="en-US" sz="850" b="1" dirty="0">
                <a:solidFill>
                  <a:srgbClr val="8D7A61"/>
                </a:solidFill>
                <a:latin typeface="Arial" pitchFamily="34" charset="0"/>
                <a:ea typeface="Arial" pitchFamily="34" charset="-122"/>
                <a:cs typeface="Arial" pitchFamily="34" charset="-120"/>
              </a:rPr>
              <a:t>TODAY</a:t>
            </a:r>
            <a:endParaRPr lang="en-US" sz="850" dirty="0"/>
          </a:p>
        </p:txBody>
      </p:sp>
      <p:sp>
        <p:nvSpPr>
          <p:cNvPr id="27" name="Text 25"/>
          <p:cNvSpPr/>
          <p:nvPr/>
        </p:nvSpPr>
        <p:spPr>
          <a:xfrm>
            <a:off x="6419088" y="1554480"/>
            <a:ext cx="2011680" cy="256032"/>
          </a:xfrm>
          <a:prstGeom prst="rect">
            <a:avLst/>
          </a:prstGeom>
          <a:noFill/>
          <a:ln/>
        </p:spPr>
        <p:txBody>
          <a:bodyPr wrap="square" lIns="0" tIns="0" rIns="0" bIns="0" rtlCol="0" anchor="ctr">
            <a:normAutofit/>
          </a:bodyPr>
          <a:lstStyle/>
          <a:p>
            <a:pPr marL="0" indent="0">
              <a:buNone/>
            </a:pPr>
            <a:r>
              <a:rPr lang="en-US" sz="1700" b="1" dirty="0">
                <a:solidFill>
                  <a:srgbClr val="351F15"/>
                </a:solidFill>
                <a:latin typeface="Arial" pitchFamily="34" charset="0"/>
                <a:ea typeface="Arial" pitchFamily="34" charset="-122"/>
                <a:cs typeface="Arial" pitchFamily="34" charset="-120"/>
              </a:rPr>
              <a:t>Small teams</a:t>
            </a:r>
            <a:endParaRPr lang="en-US" sz="1700" dirty="0"/>
          </a:p>
        </p:txBody>
      </p:sp>
      <p:sp>
        <p:nvSpPr>
          <p:cNvPr id="28" name="Text 26"/>
          <p:cNvSpPr/>
          <p:nvPr/>
        </p:nvSpPr>
        <p:spPr>
          <a:xfrm>
            <a:off x="6419088" y="1938528"/>
            <a:ext cx="3840480" cy="457200"/>
          </a:xfrm>
          <a:prstGeom prst="rect">
            <a:avLst/>
          </a:prstGeom>
          <a:noFill/>
          <a:ln/>
        </p:spPr>
        <p:txBody>
          <a:bodyPr wrap="square" lIns="0" tIns="0" rIns="0" bIns="0" rtlCol="0" anchor="ctr">
            <a:normAutofit/>
          </a:bodyPr>
          <a:lstStyle/>
          <a:p>
            <a:pPr marL="0" indent="0">
              <a:buNone/>
            </a:pPr>
            <a:r>
              <a:rPr lang="en-US" sz="1280" dirty="0">
                <a:solidFill>
                  <a:srgbClr val="8D7A61"/>
                </a:solidFill>
                <a:latin typeface="Arial" pitchFamily="34" charset="0"/>
                <a:ea typeface="Arial" pitchFamily="34" charset="-122"/>
                <a:cs typeface="Arial" pitchFamily="34" charset="-120"/>
              </a:rPr>
              <a:t>Tasks · what to bring · check-in · progress · final report</a:t>
            </a:r>
            <a:endParaRPr lang="en-US" sz="1280" dirty="0"/>
          </a:p>
        </p:txBody>
      </p:sp>
      <p:sp>
        <p:nvSpPr>
          <p:cNvPr id="29" name="Text 27"/>
          <p:cNvSpPr/>
          <p:nvPr/>
        </p:nvSpPr>
        <p:spPr>
          <a:xfrm>
            <a:off x="6419088" y="2697480"/>
            <a:ext cx="1371600" cy="201168"/>
          </a:xfrm>
          <a:prstGeom prst="rect">
            <a:avLst/>
          </a:prstGeom>
          <a:noFill/>
          <a:ln/>
        </p:spPr>
        <p:txBody>
          <a:bodyPr wrap="square" lIns="0" tIns="0" rIns="0" bIns="0" rtlCol="0" anchor="ctr">
            <a:normAutofit/>
          </a:bodyPr>
          <a:lstStyle/>
          <a:p>
            <a:pPr marL="0" indent="0">
              <a:buNone/>
            </a:pPr>
            <a:r>
              <a:rPr lang="en-US" sz="850" b="1" dirty="0">
                <a:solidFill>
                  <a:srgbClr val="8D7A61"/>
                </a:solidFill>
                <a:latin typeface="Arial" pitchFamily="34" charset="0"/>
                <a:ea typeface="Arial" pitchFamily="34" charset="-122"/>
                <a:cs typeface="Arial" pitchFamily="34" charset="-120"/>
              </a:rPr>
              <a:t>NEXT STEP</a:t>
            </a:r>
            <a:endParaRPr lang="en-US" sz="850" dirty="0"/>
          </a:p>
        </p:txBody>
      </p:sp>
      <p:sp>
        <p:nvSpPr>
          <p:cNvPr id="30" name="Text 28"/>
          <p:cNvSpPr/>
          <p:nvPr/>
        </p:nvSpPr>
        <p:spPr>
          <a:xfrm>
            <a:off x="6419088" y="3017520"/>
            <a:ext cx="3337560" cy="256032"/>
          </a:xfrm>
          <a:prstGeom prst="rect">
            <a:avLst/>
          </a:prstGeom>
          <a:noFill/>
          <a:ln/>
        </p:spPr>
        <p:txBody>
          <a:bodyPr wrap="square" lIns="0" tIns="0" rIns="0" bIns="0" rtlCol="0" anchor="ctr">
            <a:normAutofit/>
          </a:bodyPr>
          <a:lstStyle/>
          <a:p>
            <a:pPr marL="0" indent="0">
              <a:buNone/>
            </a:pPr>
            <a:r>
              <a:rPr lang="en-US" sz="1700" b="1" dirty="0">
                <a:solidFill>
                  <a:srgbClr val="351F15"/>
                </a:solidFill>
                <a:latin typeface="Arial" pitchFamily="34" charset="0"/>
                <a:ea typeface="Arial" pitchFamily="34" charset="-122"/>
                <a:cs typeface="Arial" pitchFamily="34" charset="-120"/>
              </a:rPr>
              <a:t>PM assistant in corporations</a:t>
            </a:r>
            <a:endParaRPr lang="en-US" sz="1700" dirty="0"/>
          </a:p>
        </p:txBody>
      </p:sp>
      <p:sp>
        <p:nvSpPr>
          <p:cNvPr id="31" name="Text 29"/>
          <p:cNvSpPr/>
          <p:nvPr/>
        </p:nvSpPr>
        <p:spPr>
          <a:xfrm>
            <a:off x="6419088" y="3401568"/>
            <a:ext cx="4114800" cy="347472"/>
          </a:xfrm>
          <a:prstGeom prst="rect">
            <a:avLst/>
          </a:prstGeom>
          <a:noFill/>
          <a:ln/>
        </p:spPr>
        <p:txBody>
          <a:bodyPr wrap="square" lIns="0" tIns="0" rIns="0" bIns="0" rtlCol="0" anchor="ctr">
            <a:normAutofit/>
          </a:bodyPr>
          <a:lstStyle/>
          <a:p>
            <a:pPr marL="0" indent="0">
              <a:buNone/>
            </a:pPr>
            <a:r>
              <a:rPr lang="en-US" sz="1260" b="1" dirty="0">
                <a:solidFill>
                  <a:srgbClr val="351F15"/>
                </a:solidFill>
                <a:latin typeface="Arial" pitchFamily="34" charset="0"/>
                <a:ea typeface="Arial" pitchFamily="34" charset="-122"/>
                <a:cs typeface="Arial" pitchFamily="34" charset="-120"/>
              </a:rPr>
              <a:t>Product Manager → PM → Hi5 Agent → Team Leads / Developers</a:t>
            </a:r>
            <a:endParaRPr lang="en-US" sz="1260" dirty="0"/>
          </a:p>
        </p:txBody>
      </p:sp>
      <p:sp>
        <p:nvSpPr>
          <p:cNvPr id="32" name="Text 30"/>
          <p:cNvSpPr/>
          <p:nvPr/>
        </p:nvSpPr>
        <p:spPr>
          <a:xfrm>
            <a:off x="6419088" y="3858768"/>
            <a:ext cx="2926080" cy="237744"/>
          </a:xfrm>
          <a:prstGeom prst="rect">
            <a:avLst/>
          </a:prstGeom>
          <a:noFill/>
          <a:ln/>
        </p:spPr>
        <p:txBody>
          <a:bodyPr wrap="square" lIns="0" tIns="0" rIns="0" bIns="0" rtlCol="0" anchor="ctr">
            <a:normAutofit/>
          </a:bodyPr>
          <a:lstStyle/>
          <a:p>
            <a:pPr marL="0" indent="0">
              <a:buNone/>
            </a:pPr>
            <a:r>
              <a:rPr lang="en-US" sz="1220" dirty="0">
                <a:solidFill>
                  <a:srgbClr val="8D7A61"/>
                </a:solidFill>
                <a:latin typeface="Arial" pitchFamily="34" charset="0"/>
                <a:ea typeface="Arial" pitchFamily="34" charset="-122"/>
                <a:cs typeface="Arial" pitchFamily="34" charset="-120"/>
              </a:rPr>
              <a:t>Reports are adapted by role.</a:t>
            </a:r>
            <a:endParaRPr lang="en-US" sz="1220" dirty="0"/>
          </a:p>
        </p:txBody>
      </p:sp>
      <p:sp>
        <p:nvSpPr>
          <p:cNvPr id="33" name="Shape 31"/>
          <p:cNvSpPr/>
          <p:nvPr/>
        </p:nvSpPr>
        <p:spPr>
          <a:xfrm>
            <a:off x="6419088" y="4416552"/>
            <a:ext cx="3566160" cy="0"/>
          </a:xfrm>
          <a:prstGeom prst="line">
            <a:avLst/>
          </a:prstGeom>
          <a:noFill/>
          <a:ln w="13970">
            <a:solidFill>
              <a:srgbClr val="9D8762"/>
            </a:solidFill>
            <a:prstDash val="solid"/>
          </a:ln>
        </p:spPr>
        <p:txBody>
          <a:bodyPr/>
          <a:p/>
        </p:txBody>
      </p:sp>
      <p:sp>
        <p:nvSpPr>
          <p:cNvPr id="34" name="Text 32"/>
          <p:cNvSpPr/>
          <p:nvPr/>
        </p:nvSpPr>
        <p:spPr>
          <a:xfrm>
            <a:off x="6419088" y="4681728"/>
            <a:ext cx="5038344" cy="274320"/>
          </a:xfrm>
          <a:prstGeom prst="rect">
            <a:avLst/>
          </a:prstGeom>
          <a:noFill/>
          <a:ln/>
        </p:spPr>
        <p:txBody>
          <a:bodyPr wrap="square" lIns="0" tIns="0" rIns="0" bIns="0" rtlCol="0" anchor="ctr">
            <a:normAutofit/>
          </a:bodyPr>
          <a:lstStyle/>
          <a:p>
            <a:pPr marL="0" indent="0">
              <a:buNone/>
            </a:pPr>
            <a:r>
              <a:rPr lang="en-US" sz="1400" b="1" dirty="0">
                <a:solidFill>
                  <a:srgbClr val="351F15"/>
                </a:solidFill>
                <a:latin typeface="Arial" pitchFamily="34" charset="0"/>
                <a:ea typeface="Arial" pitchFamily="34" charset="-122"/>
                <a:cs typeface="Arial" pitchFamily="34" charset="-120"/>
              </a:rPr>
              <a:t>Proposed pilot: Magic Events · 4 Saturdays</a:t>
            </a:r>
            <a:endParaRPr lang="en-US" sz="1400" dirty="0"/>
          </a:p>
        </p:txBody>
      </p:sp>
      <p:sp>
        <p:nvSpPr>
          <p:cNvPr id="35" name="Text 33"/>
          <p:cNvSpPr/>
          <p:nvPr/>
        </p:nvSpPr>
        <p:spPr>
          <a:xfrm>
            <a:off x="6419088" y="5138928"/>
            <a:ext cx="3931920" cy="566928"/>
          </a:xfrm>
          <a:prstGeom prst="rect">
            <a:avLst/>
          </a:prstGeom>
          <a:noFill/>
          <a:ln/>
        </p:spPr>
        <p:txBody>
          <a:bodyPr wrap="square" lIns="0" tIns="0" rIns="0" bIns="0" rtlCol="0" anchor="ctr">
            <a:normAutofit/>
          </a:bodyPr>
          <a:lstStyle/>
          <a:p>
            <a:pPr marL="0" indent="0">
              <a:buNone/>
            </a:pPr>
            <a:r>
              <a:rPr lang="en-US" sz="1230" i="1" dirty="0">
                <a:solidFill>
                  <a:srgbClr val="8D7A61"/>
                </a:solidFill>
                <a:latin typeface="Arial" pitchFamily="34" charset="0"/>
                <a:ea typeface="Arial" pitchFamily="34" charset="-122"/>
                <a:cs typeface="Arial" pitchFamily="34" charset="-120"/>
              </a:rPr>
              <a:t>Your leader keeps the client. We turn the “yes” into a plan that holds — and follow it through to the end.</a:t>
            </a:r>
            <a:endParaRPr lang="en-US" sz="1230" dirty="0"/>
          </a:p>
        </p:txBody>
      </p:sp>
      <p:sp>
        <p:nvSpPr>
          <p:cNvPr id="36" name="TextBox 35"/>
          <p:cNvSpPr txBox="1"/>
          <p:nvPr/>
        </p:nvSpPr>
        <p:spPr>
          <a:xfrm>
            <a:off x="987552" y="5590680"/>
            <a:ext cx="4800600" cy="500000"/>
          </a:xfrm>
          <a:prstGeom prst="rect">
            <a:avLst/>
          </a:prstGeom>
          <a:noFill/>
        </p:spPr>
        <p:txBody>
          <a:bodyPr wrap="square" lIns="0" rIns="0">
            <a:spAutoFit/>
          </a:bodyPr>
          <a:lstStyle/>
          <a:p>
            <a:r>
              <a:rPr sz="1000" b="1">
                <a:solidFill>
                  <a:srgbClr val="8B7355"/>
                </a:solidFill>
                <a:latin typeface="Arial"/>
              </a:rPr>
              <a:t>MEASURED IN OUR RUN  </a:t>
            </a:r>
            <a:r>
              <a:rPr sz="1200">
                <a:solidFill>
                  <a:srgbClr val="3A261A"/>
                </a:solidFill>
                <a:latin typeface="Arial"/>
              </a:rPr>
              <a:t>plan in 16 s · approval → all accepted in 8 s · ~$0.03 per plan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279</Words>
  <Application>Microsoft Office PowerPoint</Application>
  <PresentationFormat>Widescreen</PresentationFormat>
  <Paragraphs>78</Paragraphs>
  <Slides>3</Slides>
  <Notes>3</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3</vt:i4>
      </vt:variant>
    </vt:vector>
  </HeadingPairs>
  <TitlesOfParts>
    <vt:vector size="5" baseType="lpstr">
      <vt:lpstr>Arial</vt:lpstr>
      <vt:lpstr>Office Theme</vt:lpstr>
      <vt:lpstr>PowerPoint Presentation</vt:lpstr>
      <vt:lpstr>PowerPoint Presentation</vt:lpstr>
      <vt:lpstr>PowerPoint Presentation</vt:lpstr>
    </vt:vector>
  </TitlesOfParts>
  <Company>Hi5</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Hi5 - AI Team Leader for Magic Events</dc:title>
  <dc:subject>Hi5 AI Team Leader pitch</dc:subject>
  <dc:creator>Hi5</dc:creator>
  <cp:lastModifiedBy>Admin</cp:lastModifiedBy>
  <cp:revision>1</cp:revision>
  <dcterms:created xsi:type="dcterms:W3CDTF">2026-10-03T14:37:11Z</dcterms:created>
  <dcterms:modified xsi:type="dcterms:W3CDTF">2026-10-03T14:50:04Z</dcterms:modified>
</cp:coreProperties>
</file>