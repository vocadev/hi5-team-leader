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14" y="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2102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(0:00–0:40) — GENERAL: "Good afternoon, we're Hi5. Think of any business that sells work done by a team in the field: events, cleaning, installation, maintenance, construction. Every time a client says yes, a coordination problem starts... Today it lives in one person's head and on WhatsApp, and one quick fix often breaks another job."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(0:40–1:15) — EXAMPLE: Magic Events (permission). ~4 hours in a difficult case · the other event an hour late · workers drop out 30 min before. "The real question isn't 'is someone free?'. It's 'can we deliver this job without breaking something else?' That's why we built an AI Team Leader. Erza will show you, live."</a:t>
            </a:r>
          </a:p>
          <a:p>
            <a:r>
              <a:t>→ DEMO 1:15–3:20: ERZA narrates (pitch/SCRIPT.md) · GENTI = panel · TRINGA = Erza's phone · FLUTURA = her own phone.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DEVLETE (3:20–5:00) — "AI plans. Code checks. A human approves." Measured: plan in 16 s, all confirmed 8 s after approval, ~3 cents per plan. Any team away from a desk: small business gets a team leader it couldn't hire; bigger companies an assistant for their PMs. Honest market: Connecteam, Planner, Asana, Jira; we bring the whole handoff in one flow, in their chat, in Albanian. Next: proposed four-Saturday pilot with Magic Events. CLOSE: "Your leader keeps the client. We turn the 'yes' into a plan that holds, and follow it through to the end. Thank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01</a:t>
            </a:r>
            <a:endParaRPr lang="en-US" sz="800" dirty="0"/>
          </a:p>
        </p:txBody>
      </p:sp>
      <p:sp>
        <p:nvSpPr>
          <p:cNvPr id="6" name="Text 4"/>
          <p:cNvSpPr/>
          <p:nvPr/>
        </p:nvSpPr>
        <p:spPr>
          <a:xfrm>
            <a:off x="960120" y="1755648"/>
            <a:ext cx="1920240" cy="685800"/>
          </a:xfrm>
          <a:prstGeom prst="rect">
            <a:avLst/>
          </a:prstGeom>
          <a:noFill/>
          <a:ln/>
        </p:spPr>
        <p:txBody>
          <a:bodyPr wrap="square" lIns="0" tIns="0" rIns="0" bIns="0" rtlCol="0" anchor="ctr">
            <a:normAutofit/>
          </a:bodyPr>
          <a:lstStyle/>
          <a:p>
            <a:pPr marL="0" indent="0">
              <a:buNone/>
            </a:pPr>
            <a:r>
              <a:rPr lang="en-US" sz="5000" dirty="0">
                <a:solidFill>
                  <a:srgbClr val="351F15"/>
                </a:solidFill>
                <a:latin typeface="Arial" pitchFamily="34" charset="0"/>
                <a:ea typeface="Arial" pitchFamily="34" charset="-122"/>
                <a:cs typeface="Arial" pitchFamily="34" charset="-120"/>
              </a:rPr>
              <a:t>Hi5</a:t>
            </a:r>
            <a:endParaRPr lang="en-US" sz="5000" dirty="0"/>
          </a:p>
        </p:txBody>
      </p:sp>
      <p:sp>
        <p:nvSpPr>
          <p:cNvPr id="7" name="Text 5"/>
          <p:cNvSpPr/>
          <p:nvPr/>
        </p:nvSpPr>
        <p:spPr>
          <a:xfrm>
            <a:off x="987552" y="2816352"/>
            <a:ext cx="5120640" cy="77724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Team Leader</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for Magic Events</a:t>
            </a:r>
            <a:endParaRPr lang="en-US" sz="2800" dirty="0"/>
          </a:p>
        </p:txBody>
      </p:sp>
      <p:sp>
        <p:nvSpPr>
          <p:cNvPr id="8" name="Shape 6"/>
          <p:cNvSpPr/>
          <p:nvPr/>
        </p:nvSpPr>
        <p:spPr>
          <a:xfrm>
            <a:off x="987552" y="4151376"/>
            <a:ext cx="4709160" cy="0"/>
          </a:xfrm>
          <a:prstGeom prst="line">
            <a:avLst/>
          </a:prstGeom>
          <a:noFill/>
          <a:ln w="13970">
            <a:solidFill>
              <a:srgbClr val="9D8762"/>
            </a:solidFill>
            <a:prstDash val="solid"/>
          </a:ln>
        </p:spPr>
      </p:sp>
      <p:sp>
        <p:nvSpPr>
          <p:cNvPr id="9" name="Text 7"/>
          <p:cNvSpPr/>
          <p:nvPr/>
        </p:nvSpPr>
        <p:spPr>
          <a:xfrm>
            <a:off x="987552" y="4526280"/>
            <a:ext cx="4754880" cy="310896"/>
          </a:xfrm>
          <a:prstGeom prst="rect">
            <a:avLst/>
          </a:prstGeom>
          <a:noFill/>
          <a:ln/>
        </p:spPr>
        <p:txBody>
          <a:bodyPr wrap="square" lIns="0" tIns="0" rIns="0" bIns="0" rtlCol="0" anchor="ctr">
            <a:normAutofit/>
          </a:bodyPr>
          <a:lstStyle/>
          <a:p>
            <a:pPr marL="0" indent="0">
              <a:buNone/>
            </a:pPr>
            <a:r>
              <a:rPr lang="en-US" sz="1550" dirty="0">
                <a:solidFill>
                  <a:srgbClr val="8D7A61"/>
                </a:solidFill>
                <a:latin typeface="Arial" pitchFamily="34" charset="0"/>
                <a:ea typeface="Arial" pitchFamily="34" charset="-122"/>
                <a:cs typeface="Arial" pitchFamily="34" charset="-120"/>
              </a:rPr>
              <a:t>Turning one client “yes” into a plan that holds.</a:t>
            </a:r>
            <a:endParaRPr lang="en-US" sz="1550" dirty="0"/>
          </a:p>
        </p:txBody>
      </p:sp>
      <p:sp>
        <p:nvSpPr>
          <p:cNvPr id="10" name="Shape 8"/>
          <p:cNvSpPr/>
          <p:nvPr/>
        </p:nvSpPr>
        <p:spPr>
          <a:xfrm>
            <a:off x="6903720" y="1938528"/>
            <a:ext cx="0" cy="2377440"/>
          </a:xfrm>
          <a:prstGeom prst="line">
            <a:avLst/>
          </a:prstGeom>
          <a:noFill/>
          <a:ln w="15240">
            <a:solidFill>
              <a:srgbClr val="E5DCCB"/>
            </a:solidFill>
            <a:prstDash val="solid"/>
          </a:ln>
        </p:spPr>
      </p:sp>
      <p:sp>
        <p:nvSpPr>
          <p:cNvPr id="11" name="Text 9"/>
          <p:cNvSpPr/>
          <p:nvPr/>
        </p:nvSpPr>
        <p:spPr>
          <a:xfrm>
            <a:off x="7424928" y="2011680"/>
            <a:ext cx="20116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TEAM MEMBERS</a:t>
            </a:r>
            <a:endParaRPr lang="en-US" sz="850" dirty="0"/>
          </a:p>
        </p:txBody>
      </p:sp>
      <p:sp>
        <p:nvSpPr>
          <p:cNvPr id="12" name="Text 10"/>
          <p:cNvSpPr/>
          <p:nvPr/>
        </p:nvSpPr>
        <p:spPr>
          <a:xfrm>
            <a:off x="7424928" y="2450592"/>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Gentian Voca</a:t>
            </a:r>
            <a:endParaRPr lang="en-US" sz="1450" dirty="0"/>
          </a:p>
        </p:txBody>
      </p:sp>
      <p:sp>
        <p:nvSpPr>
          <p:cNvPr id="13" name="Text 11"/>
          <p:cNvSpPr/>
          <p:nvPr/>
        </p:nvSpPr>
        <p:spPr>
          <a:xfrm>
            <a:off x="7424928" y="2843784"/>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Flutura Hyseni</a:t>
            </a:r>
            <a:endParaRPr lang="en-US" sz="1450" dirty="0"/>
          </a:p>
        </p:txBody>
      </p:sp>
      <p:sp>
        <p:nvSpPr>
          <p:cNvPr id="14" name="Text 12"/>
          <p:cNvSpPr/>
          <p:nvPr/>
        </p:nvSpPr>
        <p:spPr>
          <a:xfrm>
            <a:off x="7424928" y="3236976"/>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Devlete Hasani</a:t>
            </a:r>
            <a:endParaRPr lang="en-US" sz="1450" dirty="0"/>
          </a:p>
        </p:txBody>
      </p:sp>
      <p:sp>
        <p:nvSpPr>
          <p:cNvPr id="15" name="Text 13"/>
          <p:cNvSpPr/>
          <p:nvPr/>
        </p:nvSpPr>
        <p:spPr>
          <a:xfrm>
            <a:off x="7424928" y="3630168"/>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Erza Osmani</a:t>
            </a:r>
            <a:endParaRPr lang="en-US" sz="1450" dirty="0"/>
          </a:p>
        </p:txBody>
      </p:sp>
      <p:sp>
        <p:nvSpPr>
          <p:cNvPr id="16" name="Text 14"/>
          <p:cNvSpPr/>
          <p:nvPr/>
        </p:nvSpPr>
        <p:spPr>
          <a:xfrm>
            <a:off x="7424928" y="4023360"/>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Tringa Hyseni</a:t>
            </a:r>
            <a:endParaRPr lang="en-US" sz="1450" dirty="0"/>
          </a:p>
        </p:txBody>
      </p:sp>
      <p:sp>
        <p:nvSpPr>
          <p:cNvPr id="17" name="Text 15"/>
          <p:cNvSpPr/>
          <p:nvPr/>
        </p:nvSpPr>
        <p:spPr>
          <a:xfrm>
            <a:off x="7424928" y="4663440"/>
            <a:ext cx="3474720" cy="320040"/>
          </a:xfrm>
          <a:prstGeom prst="rect">
            <a:avLst/>
          </a:prstGeom>
          <a:noFill/>
          <a:ln/>
        </p:spPr>
        <p:txBody>
          <a:bodyPr wrap="square" lIns="0" tIns="0" rIns="0" bIns="0" rtlCol="0" anchor="ctr">
            <a:normAutofit/>
          </a:bodyPr>
          <a:lstStyle/>
          <a:p>
            <a:pPr marL="0" indent="0">
              <a:buNone/>
            </a:pPr>
            <a:r>
              <a:rPr lang="en-US" sz="1150" dirty="0">
                <a:solidFill>
                  <a:srgbClr val="8D7A61"/>
                </a:solidFill>
                <a:latin typeface="Arial" pitchFamily="34" charset="0"/>
                <a:ea typeface="Arial" pitchFamily="34" charset="-122"/>
                <a:cs typeface="Arial" pitchFamily="34" charset="-120"/>
              </a:rPr>
              <a:t>Small business demo today. Corporate PM assistant next.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02</a:t>
            </a:r>
            <a:endParaRPr lang="en-US" sz="800" dirty="0"/>
          </a:p>
        </p:txBody>
      </p:sp>
      <p:sp>
        <p:nvSpPr>
          <p:cNvPr id="6" name="Text 4"/>
          <p:cNvSpPr/>
          <p:nvPr/>
        </p:nvSpPr>
        <p:spPr>
          <a:xfrm>
            <a:off x="960120" y="1124712"/>
            <a:ext cx="566928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One client “yes” =</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10 things that need to go right</a:t>
            </a:r>
            <a:endParaRPr lang="en-US" sz="2800" dirty="0"/>
          </a:p>
        </p:txBody>
      </p:sp>
      <p:sp>
        <p:nvSpPr>
          <p:cNvPr id="7" name="Text 5"/>
          <p:cNvSpPr/>
          <p:nvPr/>
        </p:nvSpPr>
        <p:spPr>
          <a:xfrm>
            <a:off x="987552" y="2395728"/>
            <a:ext cx="5303520" cy="320040"/>
          </a:xfrm>
          <a:prstGeom prst="rect">
            <a:avLst/>
          </a:prstGeom>
          <a:noFill/>
          <a:ln/>
        </p:spPr>
        <p:txBody>
          <a:bodyPr wrap="square" lIns="0" tIns="0" rIns="0" bIns="0" rtlCol="0" anchor="ctr">
            <a:normAutofit/>
          </a:bodyPr>
          <a:lstStyle/>
          <a:p>
            <a:pPr marL="0" indent="0">
              <a:buNone/>
            </a:pPr>
            <a:r>
              <a:rPr lang="en-US" sz="1250" dirty="0">
                <a:solidFill>
                  <a:srgbClr val="8D7A61"/>
                </a:solidFill>
                <a:latin typeface="Arial" pitchFamily="34" charset="0"/>
                <a:ea typeface="Arial" pitchFamily="34" charset="-122"/>
                <a:cs typeface="Arial" pitchFamily="34" charset="-120"/>
              </a:rPr>
              <a:t>Magic Events today: WhatsApp, Viber, phone calls, memory, and fast decisions.</a:t>
            </a:r>
            <a:endParaRPr lang="en-US" sz="1250" dirty="0"/>
          </a:p>
        </p:txBody>
      </p:sp>
      <p:sp>
        <p:nvSpPr>
          <p:cNvPr id="8" name="Shape 6"/>
          <p:cNvSpPr/>
          <p:nvPr/>
        </p:nvSpPr>
        <p:spPr>
          <a:xfrm>
            <a:off x="987552" y="2770632"/>
            <a:ext cx="4526280" cy="0"/>
          </a:xfrm>
          <a:prstGeom prst="line">
            <a:avLst/>
          </a:prstGeom>
          <a:noFill/>
          <a:ln w="13970">
            <a:solidFill>
              <a:srgbClr val="9D8762"/>
            </a:solidFill>
            <a:prstDash val="solid"/>
          </a:ln>
        </p:spPr>
        <p:txBody>
          <a:bodyPr/>
          <a:p/>
        </p:txBody>
      </p:sp>
      <p:sp>
        <p:nvSpPr>
          <p:cNvPr id="9" name="Text 7"/>
          <p:cNvSpPr/>
          <p:nvPr/>
        </p:nvSpPr>
        <p:spPr>
          <a:xfrm>
            <a:off x="987552" y="3044952"/>
            <a:ext cx="23774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MUST BE COORDINATED</a:t>
            </a:r>
            <a:endParaRPr lang="en-US" sz="850" dirty="0"/>
          </a:p>
        </p:txBody>
      </p:sp>
      <p:sp>
        <p:nvSpPr>
          <p:cNvPr id="10" name="Shape 8"/>
          <p:cNvSpPr/>
          <p:nvPr/>
        </p:nvSpPr>
        <p:spPr>
          <a:xfrm>
            <a:off x="987552"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1" name="Text 9"/>
          <p:cNvSpPr/>
          <p:nvPr/>
        </p:nvSpPr>
        <p:spPr>
          <a:xfrm>
            <a:off x="987552"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People</a:t>
            </a:r>
            <a:endParaRPr lang="en-US" sz="820" dirty="0"/>
          </a:p>
        </p:txBody>
      </p:sp>
      <p:sp>
        <p:nvSpPr>
          <p:cNvPr id="12" name="Shape 10"/>
          <p:cNvSpPr/>
          <p:nvPr/>
        </p:nvSpPr>
        <p:spPr>
          <a:xfrm>
            <a:off x="2231136"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3" name="Text 11"/>
          <p:cNvSpPr/>
          <p:nvPr/>
        </p:nvSpPr>
        <p:spPr>
          <a:xfrm>
            <a:off x="2231136"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Skills</a:t>
            </a:r>
            <a:endParaRPr lang="en-US" sz="820" dirty="0"/>
          </a:p>
        </p:txBody>
      </p:sp>
      <p:sp>
        <p:nvSpPr>
          <p:cNvPr id="14" name="Shape 12"/>
          <p:cNvSpPr/>
          <p:nvPr/>
        </p:nvSpPr>
        <p:spPr>
          <a:xfrm>
            <a:off x="3474720"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5" name="Text 13"/>
          <p:cNvSpPr/>
          <p:nvPr/>
        </p:nvSpPr>
        <p:spPr>
          <a:xfrm>
            <a:off x="3474720"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Van</a:t>
            </a:r>
            <a:endParaRPr lang="en-US" sz="820" dirty="0"/>
          </a:p>
        </p:txBody>
      </p:sp>
      <p:sp>
        <p:nvSpPr>
          <p:cNvPr id="16" name="Shape 14"/>
          <p:cNvSpPr/>
          <p:nvPr/>
        </p:nvSpPr>
        <p:spPr>
          <a:xfrm>
            <a:off x="987552"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7" name="Text 15"/>
          <p:cNvSpPr/>
          <p:nvPr/>
        </p:nvSpPr>
        <p:spPr>
          <a:xfrm>
            <a:off x="987552"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Equipment</a:t>
            </a:r>
            <a:endParaRPr lang="en-US" sz="820" dirty="0"/>
          </a:p>
        </p:txBody>
      </p:sp>
      <p:sp>
        <p:nvSpPr>
          <p:cNvPr id="18" name="Shape 16"/>
          <p:cNvSpPr/>
          <p:nvPr/>
        </p:nvSpPr>
        <p:spPr>
          <a:xfrm>
            <a:off x="2231136"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9" name="Text 17"/>
          <p:cNvSpPr/>
          <p:nvPr/>
        </p:nvSpPr>
        <p:spPr>
          <a:xfrm>
            <a:off x="2231136"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Time</a:t>
            </a:r>
            <a:endParaRPr lang="en-US" sz="820" dirty="0"/>
          </a:p>
        </p:txBody>
      </p:sp>
      <p:sp>
        <p:nvSpPr>
          <p:cNvPr id="20" name="Shape 18"/>
          <p:cNvSpPr/>
          <p:nvPr/>
        </p:nvSpPr>
        <p:spPr>
          <a:xfrm>
            <a:off x="3474720"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21" name="Text 19"/>
          <p:cNvSpPr/>
          <p:nvPr/>
        </p:nvSpPr>
        <p:spPr>
          <a:xfrm>
            <a:off x="3474720"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Location</a:t>
            </a:r>
            <a:endParaRPr lang="en-US" sz="820" dirty="0"/>
          </a:p>
        </p:txBody>
      </p:sp>
      <p:sp>
        <p:nvSpPr>
          <p:cNvPr id="22" name="Text 20"/>
          <p:cNvSpPr/>
          <p:nvPr/>
        </p:nvSpPr>
        <p:spPr>
          <a:xfrm>
            <a:off x="6629400" y="1234440"/>
            <a:ext cx="22860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REAL PROBLEM PROOF</a:t>
            </a:r>
            <a:endParaRPr lang="en-US" sz="850" dirty="0"/>
          </a:p>
        </p:txBody>
      </p:sp>
      <p:sp>
        <p:nvSpPr>
          <p:cNvPr id="23" name="Shape 21"/>
          <p:cNvSpPr/>
          <p:nvPr/>
        </p:nvSpPr>
        <p:spPr>
          <a:xfrm>
            <a:off x="6629400" y="1627632"/>
            <a:ext cx="3977640" cy="841248"/>
          </a:xfrm>
          <a:prstGeom prst="roundRect">
            <a:avLst>
              <a:gd name="adj" fmla="val 9783"/>
            </a:avLst>
          </a:prstGeom>
          <a:solidFill>
            <a:srgbClr val="FFFDF8"/>
          </a:solidFill>
          <a:ln w="10160">
            <a:solidFill>
              <a:srgbClr val="E5DCCB"/>
            </a:solidFill>
            <a:prstDash val="solid"/>
          </a:ln>
        </p:spPr>
        <p:txBody>
          <a:bodyPr/>
          <a:p/>
        </p:txBody>
      </p:sp>
      <p:sp>
        <p:nvSpPr>
          <p:cNvPr id="24" name="Text 22"/>
          <p:cNvSpPr/>
          <p:nvPr/>
        </p:nvSpPr>
        <p:spPr>
          <a:xfrm>
            <a:off x="6793992" y="1764792"/>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~4 HOURS</a:t>
            </a:r>
            <a:endParaRPr lang="en-US" sz="1000" dirty="0"/>
          </a:p>
        </p:txBody>
      </p:sp>
      <p:sp>
        <p:nvSpPr>
          <p:cNvPr id="25" name="Text 23"/>
          <p:cNvSpPr/>
          <p:nvPr/>
        </p:nvSpPr>
        <p:spPr>
          <a:xfrm>
            <a:off x="6793992" y="2130552"/>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manual coordination in one difficult case</a:t>
            </a:r>
            <a:endParaRPr lang="en-US" sz="1350" dirty="0"/>
          </a:p>
        </p:txBody>
      </p:sp>
      <p:sp>
        <p:nvSpPr>
          <p:cNvPr id="26" name="Shape 24"/>
          <p:cNvSpPr/>
          <p:nvPr/>
        </p:nvSpPr>
        <p:spPr>
          <a:xfrm>
            <a:off x="6629400" y="2697480"/>
            <a:ext cx="3977640" cy="841248"/>
          </a:xfrm>
          <a:prstGeom prst="roundRect">
            <a:avLst>
              <a:gd name="adj" fmla="val 9783"/>
            </a:avLst>
          </a:prstGeom>
          <a:solidFill>
            <a:srgbClr val="FFFDF8"/>
          </a:solidFill>
          <a:ln w="10160">
            <a:solidFill>
              <a:srgbClr val="E5DCCB"/>
            </a:solidFill>
            <a:prstDash val="solid"/>
          </a:ln>
        </p:spPr>
        <p:txBody>
          <a:bodyPr/>
          <a:p/>
        </p:txBody>
      </p:sp>
      <p:sp>
        <p:nvSpPr>
          <p:cNvPr id="27" name="Text 25"/>
          <p:cNvSpPr/>
          <p:nvPr/>
        </p:nvSpPr>
        <p:spPr>
          <a:xfrm>
            <a:off x="6793992" y="2834640"/>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~1 HOUR DELAY</a:t>
            </a:r>
            <a:endParaRPr lang="en-US" sz="1000" dirty="0"/>
          </a:p>
        </p:txBody>
      </p:sp>
      <p:sp>
        <p:nvSpPr>
          <p:cNvPr id="28" name="Text 26"/>
          <p:cNvSpPr/>
          <p:nvPr/>
        </p:nvSpPr>
        <p:spPr>
          <a:xfrm>
            <a:off x="6793992" y="3200400"/>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after moving a worker between events</a:t>
            </a:r>
            <a:endParaRPr lang="en-US" sz="1350" dirty="0"/>
          </a:p>
        </p:txBody>
      </p:sp>
      <p:sp>
        <p:nvSpPr>
          <p:cNvPr id="29" name="Shape 27"/>
          <p:cNvSpPr/>
          <p:nvPr/>
        </p:nvSpPr>
        <p:spPr>
          <a:xfrm>
            <a:off x="6629400" y="3767328"/>
            <a:ext cx="3977640" cy="841248"/>
          </a:xfrm>
          <a:prstGeom prst="roundRect">
            <a:avLst>
              <a:gd name="adj" fmla="val 9783"/>
            </a:avLst>
          </a:prstGeom>
          <a:solidFill>
            <a:srgbClr val="FFFDF8"/>
          </a:solidFill>
          <a:ln w="10160">
            <a:solidFill>
              <a:srgbClr val="E5DCCB"/>
            </a:solidFill>
            <a:prstDash val="solid"/>
          </a:ln>
        </p:spPr>
        <p:txBody>
          <a:bodyPr/>
          <a:p/>
        </p:txBody>
      </p:sp>
      <p:sp>
        <p:nvSpPr>
          <p:cNvPr id="30" name="Text 28"/>
          <p:cNvSpPr/>
          <p:nvPr/>
        </p:nvSpPr>
        <p:spPr>
          <a:xfrm>
            <a:off x="6793992" y="3904488"/>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30 MIN NOTICE</a:t>
            </a:r>
            <a:endParaRPr lang="en-US" sz="1000" dirty="0"/>
          </a:p>
        </p:txBody>
      </p:sp>
      <p:sp>
        <p:nvSpPr>
          <p:cNvPr id="31" name="Text 29"/>
          <p:cNvSpPr/>
          <p:nvPr/>
        </p:nvSpPr>
        <p:spPr>
          <a:xfrm>
            <a:off x="6793992" y="4270248"/>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worker drops out (rule: 4 hours)</a:t>
            </a:r>
            <a:endParaRPr lang="en-US" sz="1350" dirty="0"/>
          </a:p>
        </p:txBody>
      </p:sp>
      <p:sp>
        <p:nvSpPr>
          <p:cNvPr id="32" name="Text 30"/>
          <p:cNvSpPr/>
          <p:nvPr/>
        </p:nvSpPr>
        <p:spPr>
          <a:xfrm>
            <a:off x="987552" y="4892040"/>
            <a:ext cx="14630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OUR HANDOFF</a:t>
            </a:r>
            <a:endParaRPr lang="en-US" sz="850" dirty="0"/>
          </a:p>
        </p:txBody>
      </p:sp>
      <p:sp>
        <p:nvSpPr>
          <p:cNvPr id="33" name="Shape 31"/>
          <p:cNvSpPr/>
          <p:nvPr/>
        </p:nvSpPr>
        <p:spPr>
          <a:xfrm>
            <a:off x="98755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4" name="Text 32"/>
          <p:cNvSpPr/>
          <p:nvPr/>
        </p:nvSpPr>
        <p:spPr>
          <a:xfrm>
            <a:off x="106070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Customer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request</a:t>
            </a:r>
            <a:endParaRPr lang="en-US" sz="1000" dirty="0"/>
          </a:p>
        </p:txBody>
      </p:sp>
      <p:sp>
        <p:nvSpPr>
          <p:cNvPr id="35" name="Shape 33"/>
          <p:cNvSpPr/>
          <p:nvPr/>
        </p:nvSpPr>
        <p:spPr>
          <a:xfrm>
            <a:off x="2286000" y="5550408"/>
            <a:ext cx="393192" cy="0"/>
          </a:xfrm>
          <a:prstGeom prst="line">
            <a:avLst/>
          </a:prstGeom>
          <a:noFill/>
          <a:ln w="15240">
            <a:solidFill>
              <a:srgbClr val="9D8762"/>
            </a:solidFill>
            <a:prstDash val="solid"/>
            <a:headEnd type="none"/>
            <a:tailEnd type="triangle"/>
          </a:ln>
        </p:spPr>
        <p:txBody>
          <a:bodyPr/>
          <a:p/>
        </p:txBody>
      </p:sp>
      <p:sp>
        <p:nvSpPr>
          <p:cNvPr id="36" name="Shape 34"/>
          <p:cNvSpPr/>
          <p:nvPr/>
        </p:nvSpPr>
        <p:spPr>
          <a:xfrm>
            <a:off x="2706624"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7" name="Text 35"/>
          <p:cNvSpPr/>
          <p:nvPr/>
        </p:nvSpPr>
        <p:spPr>
          <a:xfrm>
            <a:off x="2779776"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plan</a:t>
            </a:r>
            <a:endParaRPr lang="en-US" sz="1000" dirty="0"/>
          </a:p>
        </p:txBody>
      </p:sp>
      <p:sp>
        <p:nvSpPr>
          <p:cNvPr id="38" name="Shape 36"/>
          <p:cNvSpPr/>
          <p:nvPr/>
        </p:nvSpPr>
        <p:spPr>
          <a:xfrm>
            <a:off x="4005072" y="5550408"/>
            <a:ext cx="393192" cy="0"/>
          </a:xfrm>
          <a:prstGeom prst="line">
            <a:avLst/>
          </a:prstGeom>
          <a:noFill/>
          <a:ln w="15240">
            <a:solidFill>
              <a:srgbClr val="9D8762"/>
            </a:solidFill>
            <a:prstDash val="solid"/>
            <a:headEnd type="none"/>
            <a:tailEnd type="triangle"/>
          </a:ln>
        </p:spPr>
        <p:txBody>
          <a:bodyPr/>
          <a:p/>
        </p:txBody>
      </p:sp>
      <p:sp>
        <p:nvSpPr>
          <p:cNvPr id="39" name="Shape 37"/>
          <p:cNvSpPr/>
          <p:nvPr/>
        </p:nvSpPr>
        <p:spPr>
          <a:xfrm>
            <a:off x="4425696" y="5285232"/>
            <a:ext cx="1243584" cy="530352"/>
          </a:xfrm>
          <a:prstGeom prst="roundRect">
            <a:avLst>
              <a:gd name="adj" fmla="val 13793"/>
            </a:avLst>
          </a:prstGeom>
          <a:solidFill>
            <a:srgbClr val="F2E8D7"/>
          </a:solidFill>
          <a:ln w="12700">
            <a:solidFill>
              <a:srgbClr val="E5DCCB"/>
            </a:solidFill>
            <a:prstDash val="solid"/>
          </a:ln>
        </p:spPr>
        <p:txBody>
          <a:bodyPr/>
          <a:p/>
        </p:txBody>
      </p:sp>
      <p:sp>
        <p:nvSpPr>
          <p:cNvPr id="40" name="Text 38"/>
          <p:cNvSpPr/>
          <p:nvPr/>
        </p:nvSpPr>
        <p:spPr>
          <a:xfrm>
            <a:off x="4498848"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Rule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validation</a:t>
            </a:r>
            <a:endParaRPr lang="en-US" sz="1000" dirty="0"/>
          </a:p>
        </p:txBody>
      </p:sp>
      <p:sp>
        <p:nvSpPr>
          <p:cNvPr id="41" name="Shape 39"/>
          <p:cNvSpPr/>
          <p:nvPr/>
        </p:nvSpPr>
        <p:spPr>
          <a:xfrm>
            <a:off x="5724144" y="5550408"/>
            <a:ext cx="393192" cy="0"/>
          </a:xfrm>
          <a:prstGeom prst="line">
            <a:avLst/>
          </a:prstGeom>
          <a:noFill/>
          <a:ln w="15240">
            <a:solidFill>
              <a:srgbClr val="9D8762"/>
            </a:solidFill>
            <a:prstDash val="solid"/>
            <a:headEnd type="none"/>
            <a:tailEnd type="triangle"/>
          </a:ln>
        </p:spPr>
        <p:txBody>
          <a:bodyPr/>
          <a:p/>
        </p:txBody>
      </p:sp>
      <p:sp>
        <p:nvSpPr>
          <p:cNvPr id="42" name="Shape 40"/>
          <p:cNvSpPr/>
          <p:nvPr/>
        </p:nvSpPr>
        <p:spPr>
          <a:xfrm>
            <a:off x="6144768"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3" name="Text 41"/>
          <p:cNvSpPr/>
          <p:nvPr/>
        </p:nvSpPr>
        <p:spPr>
          <a:xfrm>
            <a:off x="6217920"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Human</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approval</a:t>
            </a:r>
            <a:endParaRPr lang="en-US" sz="1000" dirty="0"/>
          </a:p>
        </p:txBody>
      </p:sp>
      <p:sp>
        <p:nvSpPr>
          <p:cNvPr id="44" name="Shape 42"/>
          <p:cNvSpPr/>
          <p:nvPr/>
        </p:nvSpPr>
        <p:spPr>
          <a:xfrm>
            <a:off x="7443216" y="5550408"/>
            <a:ext cx="393192" cy="0"/>
          </a:xfrm>
          <a:prstGeom prst="line">
            <a:avLst/>
          </a:prstGeom>
          <a:noFill/>
          <a:ln w="15240">
            <a:solidFill>
              <a:srgbClr val="9D8762"/>
            </a:solidFill>
            <a:prstDash val="solid"/>
            <a:headEnd type="none"/>
            <a:tailEnd type="triangle"/>
          </a:ln>
        </p:spPr>
        <p:txBody>
          <a:bodyPr/>
          <a:p/>
        </p:txBody>
      </p:sp>
      <p:sp>
        <p:nvSpPr>
          <p:cNvPr id="45" name="Shape 43"/>
          <p:cNvSpPr/>
          <p:nvPr/>
        </p:nvSpPr>
        <p:spPr>
          <a:xfrm>
            <a:off x="7863840"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6" name="Text 44"/>
          <p:cNvSpPr/>
          <p:nvPr/>
        </p:nvSpPr>
        <p:spPr>
          <a:xfrm>
            <a:off x="7936992"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Worker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actions</a:t>
            </a:r>
            <a:endParaRPr lang="en-US" sz="1000" dirty="0"/>
          </a:p>
        </p:txBody>
      </p:sp>
      <p:sp>
        <p:nvSpPr>
          <p:cNvPr id="47" name="Shape 45"/>
          <p:cNvSpPr/>
          <p:nvPr/>
        </p:nvSpPr>
        <p:spPr>
          <a:xfrm>
            <a:off x="9162288" y="5550408"/>
            <a:ext cx="393192" cy="0"/>
          </a:xfrm>
          <a:prstGeom prst="line">
            <a:avLst/>
          </a:prstGeom>
          <a:noFill/>
          <a:ln w="15240">
            <a:solidFill>
              <a:srgbClr val="9D8762"/>
            </a:solidFill>
            <a:prstDash val="solid"/>
            <a:headEnd type="none"/>
            <a:tailEnd type="triangle"/>
          </a:ln>
        </p:spPr>
        <p:txBody>
          <a:bodyPr/>
          <a:p/>
        </p:txBody>
      </p:sp>
      <p:sp>
        <p:nvSpPr>
          <p:cNvPr id="48" name="Shape 46"/>
          <p:cNvSpPr/>
          <p:nvPr/>
        </p:nvSpPr>
        <p:spPr>
          <a:xfrm>
            <a:off x="958291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9" name="Text 47"/>
          <p:cNvSpPr/>
          <p:nvPr/>
        </p:nvSpPr>
        <p:spPr>
          <a:xfrm>
            <a:off x="965606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Recovery</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 report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03</a:t>
            </a:r>
            <a:endParaRPr lang="en-US" sz="800" dirty="0"/>
          </a:p>
        </p:txBody>
      </p:sp>
      <p:sp>
        <p:nvSpPr>
          <p:cNvPr id="6" name="Text 4"/>
          <p:cNvSpPr/>
          <p:nvPr/>
        </p:nvSpPr>
        <p:spPr>
          <a:xfrm>
            <a:off x="960120" y="1060704"/>
            <a:ext cx="457200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plans. Code checks.</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Human approves.</a:t>
            </a:r>
            <a:endParaRPr lang="en-US" sz="2800" dirty="0"/>
          </a:p>
        </p:txBody>
      </p:sp>
      <p:sp>
        <p:nvSpPr>
          <p:cNvPr id="7" name="Text 5"/>
          <p:cNvSpPr/>
          <p:nvPr/>
        </p:nvSpPr>
        <p:spPr>
          <a:xfrm>
            <a:off x="987552" y="2359152"/>
            <a:ext cx="4983480" cy="320040"/>
          </a:xfrm>
          <a:prstGeom prst="rect">
            <a:avLst/>
          </a:prstGeom>
          <a:noFill/>
          <a:ln/>
        </p:spPr>
        <p:txBody>
          <a:bodyPr wrap="square" lIns="0" tIns="0" rIns="0" bIns="0" rtlCol="0" anchor="ctr">
            <a:normAutofit/>
          </a:bodyPr>
          <a:lstStyle/>
          <a:p>
            <a:pPr marL="0" indent="0">
              <a:buNone/>
            </a:pPr>
            <a:r>
              <a:rPr lang="en-US" sz="1240" dirty="0">
                <a:solidFill>
                  <a:srgbClr val="8D7A61"/>
                </a:solidFill>
                <a:latin typeface="Arial" pitchFamily="34" charset="0"/>
                <a:ea typeface="Arial" pitchFamily="34" charset="-122"/>
                <a:cs typeface="Arial" pitchFamily="34" charset="-120"/>
              </a:rPr>
              <a:t>Hi5 does not replace the leader. It turns a request into a controlled execution flow.</a:t>
            </a:r>
            <a:endParaRPr lang="en-US" sz="1240" dirty="0"/>
          </a:p>
        </p:txBody>
      </p:sp>
      <p:sp>
        <p:nvSpPr>
          <p:cNvPr id="8" name="Text 6"/>
          <p:cNvSpPr/>
          <p:nvPr/>
        </p:nvSpPr>
        <p:spPr>
          <a:xfrm>
            <a:off x="987552" y="2871216"/>
            <a:ext cx="10972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DEMO FLOW</a:t>
            </a:r>
            <a:endParaRPr lang="en-US" sz="850" dirty="0"/>
          </a:p>
        </p:txBody>
      </p:sp>
      <p:sp>
        <p:nvSpPr>
          <p:cNvPr id="9" name="Shape 7"/>
          <p:cNvSpPr/>
          <p:nvPr/>
        </p:nvSpPr>
        <p:spPr>
          <a:xfrm>
            <a:off x="932688"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0" name="Text 8"/>
          <p:cNvSpPr/>
          <p:nvPr/>
        </p:nvSpPr>
        <p:spPr>
          <a:xfrm>
            <a:off x="1005840"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p:txBody>
      </p:sp>
      <p:sp>
        <p:nvSpPr>
          <p:cNvPr id="11" name="Shape 9"/>
          <p:cNvSpPr/>
          <p:nvPr/>
        </p:nvSpPr>
        <p:spPr>
          <a:xfrm>
            <a:off x="1828800" y="3529584"/>
            <a:ext cx="146304" cy="0"/>
          </a:xfrm>
          <a:prstGeom prst="line">
            <a:avLst/>
          </a:prstGeom>
          <a:noFill/>
          <a:ln w="15240">
            <a:solidFill>
              <a:srgbClr val="9D8762"/>
            </a:solidFill>
            <a:prstDash val="solid"/>
            <a:headEnd type="none"/>
            <a:tailEnd type="triangle"/>
          </a:ln>
        </p:spPr>
        <p:txBody>
          <a:bodyPr/>
          <a:p/>
        </p:txBody>
      </p:sp>
      <p:sp>
        <p:nvSpPr>
          <p:cNvPr id="12" name="Shape 10"/>
          <p:cNvSpPr/>
          <p:nvPr/>
        </p:nvSpPr>
        <p:spPr>
          <a:xfrm>
            <a:off x="2020824"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3" name="Text 11"/>
          <p:cNvSpPr/>
          <p:nvPr/>
        </p:nvSpPr>
        <p:spPr>
          <a:xfrm>
            <a:off x="2093976"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 Agent</a:t>
            </a:r>
            <a:endParaRPr lang="en-US" sz="1000" dirty="0"/>
          </a:p>
        </p:txBody>
      </p:sp>
      <p:sp>
        <p:nvSpPr>
          <p:cNvPr id="14" name="Shape 12"/>
          <p:cNvSpPr/>
          <p:nvPr/>
        </p:nvSpPr>
        <p:spPr>
          <a:xfrm>
            <a:off x="2916936" y="3529584"/>
            <a:ext cx="146304" cy="0"/>
          </a:xfrm>
          <a:prstGeom prst="line">
            <a:avLst/>
          </a:prstGeom>
          <a:noFill/>
          <a:ln w="15240">
            <a:solidFill>
              <a:srgbClr val="9D8762"/>
            </a:solidFill>
            <a:prstDash val="solid"/>
            <a:headEnd type="none"/>
            <a:tailEnd type="triangle"/>
          </a:ln>
        </p:spPr>
        <p:txBody>
          <a:bodyPr/>
          <a:p/>
        </p:txBody>
      </p:sp>
      <p:sp>
        <p:nvSpPr>
          <p:cNvPr id="15" name="Shape 13"/>
          <p:cNvSpPr/>
          <p:nvPr/>
        </p:nvSpPr>
        <p:spPr>
          <a:xfrm>
            <a:off x="3108960" y="3246120"/>
            <a:ext cx="841248" cy="566928"/>
          </a:xfrm>
          <a:prstGeom prst="roundRect">
            <a:avLst>
              <a:gd name="adj" fmla="val 12903"/>
            </a:avLst>
          </a:prstGeom>
          <a:solidFill>
            <a:srgbClr val="F2E8D7"/>
          </a:solidFill>
          <a:ln w="12700">
            <a:solidFill>
              <a:srgbClr val="E5DCCB"/>
            </a:solidFill>
            <a:prstDash val="solid"/>
          </a:ln>
        </p:spPr>
        <p:txBody>
          <a:bodyPr/>
          <a:p/>
        </p:txBody>
      </p:sp>
      <p:sp>
        <p:nvSpPr>
          <p:cNvPr id="16" name="Text 14"/>
          <p:cNvSpPr/>
          <p:nvPr/>
        </p:nvSpPr>
        <p:spPr>
          <a:xfrm>
            <a:off x="3182112"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Code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rules</a:t>
            </a:r>
            <a:endParaRPr lang="en-US" sz="1000" dirty="0"/>
          </a:p>
        </p:txBody>
      </p:sp>
      <p:sp>
        <p:nvSpPr>
          <p:cNvPr id="17" name="Shape 15"/>
          <p:cNvSpPr/>
          <p:nvPr/>
        </p:nvSpPr>
        <p:spPr>
          <a:xfrm>
            <a:off x="4005072" y="3529584"/>
            <a:ext cx="146304" cy="0"/>
          </a:xfrm>
          <a:prstGeom prst="line">
            <a:avLst/>
          </a:prstGeom>
          <a:noFill/>
          <a:ln w="15240">
            <a:solidFill>
              <a:srgbClr val="9D8762"/>
            </a:solidFill>
            <a:prstDash val="solid"/>
            <a:headEnd type="none"/>
            <a:tailEnd type="triangle"/>
          </a:ln>
        </p:spPr>
        <p:txBody>
          <a:bodyPr/>
          <a:p/>
        </p:txBody>
      </p:sp>
      <p:sp>
        <p:nvSpPr>
          <p:cNvPr id="18" name="Shape 16"/>
          <p:cNvSpPr/>
          <p:nvPr/>
        </p:nvSpPr>
        <p:spPr>
          <a:xfrm>
            <a:off x="4197096"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9" name="Text 17"/>
          <p:cNvSpPr/>
          <p:nvPr/>
        </p:nvSpPr>
        <p:spPr>
          <a:xfrm>
            <a:off x="4270248"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approves</a:t>
            </a:r>
            <a:endParaRPr lang="en-US" sz="1000" dirty="0"/>
          </a:p>
        </p:txBody>
      </p:sp>
      <p:sp>
        <p:nvSpPr>
          <p:cNvPr id="20" name="Shape 18"/>
          <p:cNvSpPr/>
          <p:nvPr/>
        </p:nvSpPr>
        <p:spPr>
          <a:xfrm>
            <a:off x="5093208" y="3529584"/>
            <a:ext cx="146304" cy="0"/>
          </a:xfrm>
          <a:prstGeom prst="line">
            <a:avLst/>
          </a:prstGeom>
          <a:noFill/>
          <a:ln w="15240">
            <a:solidFill>
              <a:srgbClr val="9D8762"/>
            </a:solidFill>
            <a:prstDash val="solid"/>
            <a:headEnd type="none"/>
            <a:tailEnd type="triangle"/>
          </a:ln>
        </p:spPr>
        <p:txBody>
          <a:bodyPr/>
          <a:p/>
        </p:txBody>
      </p:sp>
      <p:sp>
        <p:nvSpPr>
          <p:cNvPr id="21" name="Shape 19"/>
          <p:cNvSpPr/>
          <p:nvPr/>
        </p:nvSpPr>
        <p:spPr>
          <a:xfrm>
            <a:off x="5285232"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22" name="Text 20"/>
          <p:cNvSpPr/>
          <p:nvPr/>
        </p:nvSpPr>
        <p:spPr>
          <a:xfrm>
            <a:off x="5358384"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Team</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accepts</a:t>
            </a:r>
            <a:endParaRPr lang="en-US" sz="1000" dirty="0"/>
          </a:p>
        </p:txBody>
      </p:sp>
      <p:sp>
        <p:nvSpPr>
          <p:cNvPr id="23" name="Text 21"/>
          <p:cNvSpPr/>
          <p:nvPr/>
        </p:nvSpPr>
        <p:spPr>
          <a:xfrm>
            <a:off x="987552" y="4279392"/>
            <a:ext cx="18288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IT DOES NOT DO</a:t>
            </a:r>
            <a:endParaRPr lang="en-US" sz="850" dirty="0"/>
          </a:p>
        </p:txBody>
      </p:sp>
      <p:sp>
        <p:nvSpPr>
          <p:cNvPr id="24" name="Text 22"/>
          <p:cNvSpPr/>
          <p:nvPr/>
        </p:nvSpPr>
        <p:spPr>
          <a:xfrm>
            <a:off x="987552" y="4617720"/>
            <a:ext cx="3840480" cy="822960"/>
          </a:xfrm>
          <a:prstGeom prst="rect">
            <a:avLst/>
          </a:prstGeom>
          <a:noFill/>
          <a:ln/>
        </p:spPr>
        <p:txBody>
          <a:bodyPr wrap="square" lIns="0" tIns="0" rIns="0" bIns="0" rtlCol="0" anchor="ctr">
            <a:normAutofit/>
          </a:bodyPr>
          <a:lstStyle/>
          <a:p>
            <a:pPr marL="0" indent="0">
              <a:buNone/>
            </a:pPr>
            <a:r>
              <a:rPr lang="en-US" sz="1260" dirty="0">
                <a:solidFill>
                  <a:srgbClr val="351F15"/>
                </a:solidFill>
                <a:latin typeface="Arial" pitchFamily="34" charset="0"/>
                <a:ea typeface="Arial" pitchFamily="34" charset="-122"/>
                <a:cs typeface="Arial" pitchFamily="34" charset="-120"/>
              </a:rPr>
              <a:t>• Does not talk to the client</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approve by itself</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assign anyone without ACCEPT</a:t>
            </a:r>
            <a:endParaRPr lang="en-US" sz="1260" dirty="0"/>
          </a:p>
        </p:txBody>
      </p:sp>
      <p:sp>
        <p:nvSpPr>
          <p:cNvPr id="25" name="Shape 23"/>
          <p:cNvSpPr/>
          <p:nvPr/>
        </p:nvSpPr>
        <p:spPr>
          <a:xfrm>
            <a:off x="6053328" y="1298448"/>
            <a:ext cx="0" cy="4370832"/>
          </a:xfrm>
          <a:prstGeom prst="line">
            <a:avLst/>
          </a:prstGeom>
          <a:noFill/>
          <a:ln w="15240">
            <a:solidFill>
              <a:srgbClr val="E5DCCB"/>
            </a:solidFill>
            <a:prstDash val="solid"/>
          </a:ln>
        </p:spPr>
        <p:txBody>
          <a:bodyPr/>
          <a:p/>
        </p:txBody>
      </p:sp>
      <p:sp>
        <p:nvSpPr>
          <p:cNvPr id="26" name="Text 24"/>
          <p:cNvSpPr/>
          <p:nvPr/>
        </p:nvSpPr>
        <p:spPr>
          <a:xfrm>
            <a:off x="6419088" y="1234440"/>
            <a:ext cx="9144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TODAY</a:t>
            </a:r>
            <a:endParaRPr lang="en-US" sz="850" dirty="0"/>
          </a:p>
        </p:txBody>
      </p:sp>
      <p:sp>
        <p:nvSpPr>
          <p:cNvPr id="27" name="Text 25"/>
          <p:cNvSpPr/>
          <p:nvPr/>
        </p:nvSpPr>
        <p:spPr>
          <a:xfrm>
            <a:off x="6419088" y="1554480"/>
            <a:ext cx="201168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Small teams</a:t>
            </a:r>
            <a:endParaRPr lang="en-US" sz="1700" dirty="0"/>
          </a:p>
        </p:txBody>
      </p:sp>
      <p:sp>
        <p:nvSpPr>
          <p:cNvPr id="28" name="Text 26"/>
          <p:cNvSpPr/>
          <p:nvPr/>
        </p:nvSpPr>
        <p:spPr>
          <a:xfrm>
            <a:off x="6419088" y="1938528"/>
            <a:ext cx="3840480" cy="457200"/>
          </a:xfrm>
          <a:prstGeom prst="rect">
            <a:avLst/>
          </a:prstGeom>
          <a:noFill/>
          <a:ln/>
        </p:spPr>
        <p:txBody>
          <a:bodyPr wrap="square" lIns="0" tIns="0" rIns="0" bIns="0" rtlCol="0" anchor="ctr">
            <a:normAutofit/>
          </a:bodyPr>
          <a:lstStyle/>
          <a:p>
            <a:pPr marL="0" indent="0">
              <a:buNone/>
            </a:pPr>
            <a:r>
              <a:rPr lang="en-US" sz="1280" dirty="0">
                <a:solidFill>
                  <a:srgbClr val="8D7A61"/>
                </a:solidFill>
                <a:latin typeface="Arial" pitchFamily="34" charset="0"/>
                <a:ea typeface="Arial" pitchFamily="34" charset="-122"/>
                <a:cs typeface="Arial" pitchFamily="34" charset="-120"/>
              </a:rPr>
              <a:t>Tasks · what to bring · check-in · progress · final report</a:t>
            </a:r>
            <a:endParaRPr lang="en-US" sz="1280" dirty="0"/>
          </a:p>
        </p:txBody>
      </p:sp>
      <p:sp>
        <p:nvSpPr>
          <p:cNvPr id="29" name="Text 27"/>
          <p:cNvSpPr/>
          <p:nvPr/>
        </p:nvSpPr>
        <p:spPr>
          <a:xfrm>
            <a:off x="6419088" y="2697480"/>
            <a:ext cx="13716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NEXT STEP</a:t>
            </a:r>
            <a:endParaRPr lang="en-US" sz="850" dirty="0"/>
          </a:p>
        </p:txBody>
      </p:sp>
      <p:sp>
        <p:nvSpPr>
          <p:cNvPr id="30" name="Text 28"/>
          <p:cNvSpPr/>
          <p:nvPr/>
        </p:nvSpPr>
        <p:spPr>
          <a:xfrm>
            <a:off x="6419088" y="3017520"/>
            <a:ext cx="333756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PM assistant in corporations</a:t>
            </a:r>
            <a:endParaRPr lang="en-US" sz="1700" dirty="0"/>
          </a:p>
        </p:txBody>
      </p:sp>
      <p:sp>
        <p:nvSpPr>
          <p:cNvPr id="31" name="Text 29"/>
          <p:cNvSpPr/>
          <p:nvPr/>
        </p:nvSpPr>
        <p:spPr>
          <a:xfrm>
            <a:off x="6419088" y="3401568"/>
            <a:ext cx="4114800" cy="347472"/>
          </a:xfrm>
          <a:prstGeom prst="rect">
            <a:avLst/>
          </a:prstGeom>
          <a:noFill/>
          <a:ln/>
        </p:spPr>
        <p:txBody>
          <a:bodyPr wrap="square" lIns="0" tIns="0" rIns="0" bIns="0" rtlCol="0" anchor="ctr">
            <a:normAutofit/>
          </a:bodyPr>
          <a:lstStyle/>
          <a:p>
            <a:pPr marL="0" indent="0">
              <a:buNone/>
            </a:pPr>
            <a:r>
              <a:rPr lang="en-US" sz="1260" b="1" dirty="0">
                <a:solidFill>
                  <a:srgbClr val="351F15"/>
                </a:solidFill>
                <a:latin typeface="Arial" pitchFamily="34" charset="0"/>
                <a:ea typeface="Arial" pitchFamily="34" charset="-122"/>
                <a:cs typeface="Arial" pitchFamily="34" charset="-120"/>
              </a:rPr>
              <a:t>Product Manager → PM → Hi5 Agent → Team Leads / Developers</a:t>
            </a:r>
            <a:endParaRPr lang="en-US" sz="1260" dirty="0"/>
          </a:p>
        </p:txBody>
      </p:sp>
      <p:sp>
        <p:nvSpPr>
          <p:cNvPr id="32" name="Text 30"/>
          <p:cNvSpPr/>
          <p:nvPr/>
        </p:nvSpPr>
        <p:spPr>
          <a:xfrm>
            <a:off x="6419088" y="3858768"/>
            <a:ext cx="2926080" cy="237744"/>
          </a:xfrm>
          <a:prstGeom prst="rect">
            <a:avLst/>
          </a:prstGeom>
          <a:noFill/>
          <a:ln/>
        </p:spPr>
        <p:txBody>
          <a:bodyPr wrap="square" lIns="0" tIns="0" rIns="0" bIns="0" rtlCol="0" anchor="ctr">
            <a:normAutofit/>
          </a:bodyPr>
          <a:lstStyle/>
          <a:p>
            <a:pPr marL="0" indent="0">
              <a:buNone/>
            </a:pPr>
            <a:r>
              <a:rPr lang="en-US" sz="1220" dirty="0">
                <a:solidFill>
                  <a:srgbClr val="8D7A61"/>
                </a:solidFill>
                <a:latin typeface="Arial" pitchFamily="34" charset="0"/>
                <a:ea typeface="Arial" pitchFamily="34" charset="-122"/>
                <a:cs typeface="Arial" pitchFamily="34" charset="-120"/>
              </a:rPr>
              <a:t>Reports are adapted by role.</a:t>
            </a:r>
            <a:endParaRPr lang="en-US" sz="1220" dirty="0"/>
          </a:p>
        </p:txBody>
      </p:sp>
      <p:sp>
        <p:nvSpPr>
          <p:cNvPr id="33" name="Shape 31"/>
          <p:cNvSpPr/>
          <p:nvPr/>
        </p:nvSpPr>
        <p:spPr>
          <a:xfrm>
            <a:off x="6419088" y="4416552"/>
            <a:ext cx="3566160" cy="0"/>
          </a:xfrm>
          <a:prstGeom prst="line">
            <a:avLst/>
          </a:prstGeom>
          <a:noFill/>
          <a:ln w="13970">
            <a:solidFill>
              <a:srgbClr val="9D8762"/>
            </a:solidFill>
            <a:prstDash val="solid"/>
          </a:ln>
        </p:spPr>
        <p:txBody>
          <a:bodyPr/>
          <a:p/>
        </p:txBody>
      </p:sp>
      <p:sp>
        <p:nvSpPr>
          <p:cNvPr id="34" name="Text 32"/>
          <p:cNvSpPr/>
          <p:nvPr/>
        </p:nvSpPr>
        <p:spPr>
          <a:xfrm>
            <a:off x="6419088" y="4681728"/>
            <a:ext cx="5038344" cy="274320"/>
          </a:xfrm>
          <a:prstGeom prst="rect">
            <a:avLst/>
          </a:prstGeom>
          <a:noFill/>
          <a:ln/>
        </p:spPr>
        <p:txBody>
          <a:bodyPr wrap="square" lIns="0" tIns="0" rIns="0" bIns="0" rtlCol="0" anchor="ctr">
            <a:normAutofit/>
          </a:bodyPr>
          <a:lstStyle/>
          <a:p>
            <a:pPr marL="0" indent="0">
              <a:buNone/>
            </a:pPr>
            <a:r>
              <a:rPr lang="en-US" sz="1400" b="1" dirty="0">
                <a:solidFill>
                  <a:srgbClr val="351F15"/>
                </a:solidFill>
                <a:latin typeface="Arial" pitchFamily="34" charset="0"/>
                <a:ea typeface="Arial" pitchFamily="34" charset="-122"/>
                <a:cs typeface="Arial" pitchFamily="34" charset="-120"/>
              </a:rPr>
              <a:t>Proposed pilot: Magic Events · 4 Saturdays</a:t>
            </a:r>
            <a:endParaRPr lang="en-US" sz="1400" dirty="0"/>
          </a:p>
        </p:txBody>
      </p:sp>
      <p:sp>
        <p:nvSpPr>
          <p:cNvPr id="35" name="Text 33"/>
          <p:cNvSpPr/>
          <p:nvPr/>
        </p:nvSpPr>
        <p:spPr>
          <a:xfrm>
            <a:off x="6419088" y="5138928"/>
            <a:ext cx="3931920" cy="566928"/>
          </a:xfrm>
          <a:prstGeom prst="rect">
            <a:avLst/>
          </a:prstGeom>
          <a:noFill/>
          <a:ln/>
        </p:spPr>
        <p:txBody>
          <a:bodyPr wrap="square" lIns="0" tIns="0" rIns="0" bIns="0" rtlCol="0" anchor="ctr">
            <a:normAutofit/>
          </a:bodyPr>
          <a:lstStyle/>
          <a:p>
            <a:pPr marL="0" indent="0">
              <a:buNone/>
            </a:pPr>
            <a:r>
              <a:rPr lang="en-US" sz="1230" i="1" dirty="0">
                <a:solidFill>
                  <a:srgbClr val="8D7A61"/>
                </a:solidFill>
                <a:latin typeface="Arial" pitchFamily="34" charset="0"/>
                <a:ea typeface="Arial" pitchFamily="34" charset="-122"/>
                <a:cs typeface="Arial" pitchFamily="34" charset="-120"/>
              </a:rPr>
              <a:t>Your leader keeps the client. We turn the “yes” into a plan that holds — and follow it through to the end.</a:t>
            </a:r>
            <a:endParaRPr lang="en-US" sz="1230" dirty="0"/>
          </a:p>
        </p:txBody>
      </p:sp>
      <p:sp>
        <p:nvSpPr>
          <p:cNvPr id="36" name="TextBox 35"/>
          <p:cNvSpPr txBox="1"/>
          <p:nvPr/>
        </p:nvSpPr>
        <p:spPr>
          <a:xfrm>
            <a:off x="987552" y="5590680"/>
            <a:ext cx="4800600" cy="500000"/>
          </a:xfrm>
          <a:prstGeom prst="rect">
            <a:avLst/>
          </a:prstGeom>
          <a:noFill/>
        </p:spPr>
        <p:txBody>
          <a:bodyPr wrap="square" lIns="0" rIns="0">
            <a:spAutoFit/>
          </a:bodyPr>
          <a:lstStyle/>
          <a:p>
            <a:r>
              <a:rPr sz="1000" b="1">
                <a:solidFill>
                  <a:srgbClr val="8B7355"/>
                </a:solidFill>
                <a:latin typeface="Arial"/>
              </a:rPr>
              <a:t>MEASURED IN OUR RUN  </a:t>
            </a:r>
            <a:r>
              <a:rPr sz="1200">
                <a:solidFill>
                  <a:srgbClr val="3A261A"/>
                </a:solidFill>
                <a:latin typeface="Arial"/>
              </a:rPr>
              <a:t>plan in 16 s · approval → all accepted in 8 s · ~$0.03 per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Words>
  <Application>Microsoft Office PowerPoint</Application>
  <PresentationFormat>Widescreen</PresentationFormat>
  <Paragraphs>78</Paragraphs>
  <Slides>3</Slides>
  <Notes>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vt:i4>
      </vt:variant>
    </vt:vector>
  </HeadingPairs>
  <TitlesOfParts>
    <vt:vector size="5" baseType="lpstr">
      <vt:lpstr>Arial</vt:lpstr>
      <vt:lpstr>Office Theme</vt:lpstr>
      <vt:lpstr>PowerPoint Presentation</vt:lpstr>
      <vt:lpstr>PowerPoint Presentation</vt:lpstr>
      <vt:lpstr>PowerPoint Presentation</vt:lpstr>
    </vt:vector>
  </TitlesOfParts>
  <Company>Hi5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Hi5 - AI Team Leader for Magic Events</dc:title>
  <dc:subject>Hi5 AI Team Leader pitch</dc:subject>
  <dc:creator>Hi5</dc:creator>
  <cp:lastModifiedBy>Admin</cp:lastModifiedBy>
  <cp:revision>1</cp:revision>
  <dcterms:created xsi:type="dcterms:W3CDTF">2026-10-03T14:37:11Z</dcterms:created>
  <dcterms:modified xsi:type="dcterms:W3CDTF">2026-10-03T14:50:04Z</dcterms:modified>
</cp:coreProperties>
</file>